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9"/>
  </p:notesMasterIdLst>
  <p:sldIdLst>
    <p:sldId id="256" r:id="rId2"/>
    <p:sldId id="257" r:id="rId3"/>
    <p:sldId id="259" r:id="rId4"/>
    <p:sldId id="270" r:id="rId5"/>
    <p:sldId id="271" r:id="rId6"/>
    <p:sldId id="260" r:id="rId7"/>
    <p:sldId id="261" r:id="rId8"/>
    <p:sldId id="262" r:id="rId9"/>
    <p:sldId id="263" r:id="rId10"/>
    <p:sldId id="272" r:id="rId11"/>
    <p:sldId id="266" r:id="rId12"/>
    <p:sldId id="264" r:id="rId13"/>
    <p:sldId id="267" r:id="rId14"/>
    <p:sldId id="273" r:id="rId15"/>
    <p:sldId id="268" r:id="rId16"/>
    <p:sldId id="274" r:id="rId17"/>
    <p:sldId id="269" r:id="rId18"/>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0" roundtripDataSignature="AMtx7mi8k4vfTcigBOvi1GPtpHoS9j9jS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4" d="100"/>
          <a:sy n="84" d="100"/>
        </p:scale>
        <p:origin x="142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pPr marL="0" marR="0" lvl="0" indent="0" algn="r" rtl="0">
                <a:spcBef>
                  <a:spcPts val="0"/>
                </a:spcBef>
                <a:spcAft>
                  <a:spcPts val="0"/>
                </a:spcAft>
                <a:buNone/>
              </a:p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3364276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5890F0F5-CFC8-FF37-74A8-0C9DA1FAED8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43E930E-19F4-8AA1-FC61-12584944D18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28B94307-D75A-9476-C95C-5AFEC4CFFE21}"/>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684241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519EA13-D717-8156-2EC2-FA5850959972}"/>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053356E8-2550-72C7-272C-9880068B8E67}"/>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15A570E-5967-F7E1-1886-CE97DD2C114C}"/>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6725835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7EAB485C-AD0C-9048-494B-F92D2024F763}"/>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47959C7E-F816-0123-2ABF-BDAEAE5E153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CA413CF-C5B4-849A-37F9-4EB95B10D3D8}"/>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03599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2EFB247B-FE3D-6A45-32D6-56C0EF6A341F}"/>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5CD84D26-D68B-64EA-1988-FBB13A1B2F4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63F9762-BBEF-0D64-9305-BE2A11EEC6E7}"/>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8451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407F04C5-E437-F383-6352-A82E81502ACB}"/>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F1F0636-EBCE-E037-F4E8-292993182E99}"/>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DE68466A-1C29-6721-39A3-189E9B7803B4}"/>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2474912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91AE14D-7CAA-35C1-856A-17C708077496}"/>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82D91984-17EC-5B23-F83B-C3EBD044175F}"/>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1CCF19D9-B984-15A6-C723-26AD2C7C5610}"/>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81362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D0713635-6370-8AAF-2783-1C5853B9E4A5}"/>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7CE0B979-275E-5742-C5BE-2E744496D22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16979B9-FB25-82C3-CB92-18DA0671BF9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358919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BC451265-08BC-CF35-72DC-8DC3C26EC6B9}"/>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FFFEB064-ABD2-0F39-EA63-8D4BCDF67276}"/>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64CE8606-1FF0-3E49-E949-A05CC519C2F9}"/>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4971721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9BC8280-6063-02F2-CE9B-94EEE535EC3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262482A-C602-1B6A-DDA9-3F99E715FB93}"/>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5B66E31C-7CA1-C457-8537-D28250D6FC72}"/>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5438318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95AAF1F3-C8CA-8F44-0C8C-7553FA6CCC88}"/>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9A8268B7-35AE-ADFA-2ABC-4C4FB58F0CBC}"/>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464A6178-1EC3-CFCF-9B66-FD60610BFEB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961589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8BE61F21-0E6D-3287-F56C-E5DE50F3A9BD}"/>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2F329B4C-0999-10FC-1FE3-88E27B5B2D9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EE05A4E7-68E7-6DD2-1D1B-277C75964B4A}"/>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7521534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022D3A9-EA4C-7701-9909-D1A375187414}"/>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E143C09B-CA8D-7691-14A4-0C8064CDAB7A}"/>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8DA1E464-1962-EF20-FC0D-5A9CD886DA06}"/>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965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A2E0899C-230E-8118-B009-7D707601C657}"/>
            </a:ext>
          </a:extLst>
        </p:cNvPr>
        <p:cNvGrpSpPr/>
        <p:nvPr/>
      </p:nvGrpSpPr>
      <p:grpSpPr>
        <a:xfrm>
          <a:off x="0" y="0"/>
          <a:ext cx="0" cy="0"/>
          <a:chOff x="0" y="0"/>
          <a:chExt cx="0" cy="0"/>
        </a:xfrm>
      </p:grpSpPr>
      <p:sp>
        <p:nvSpPr>
          <p:cNvPr id="93" name="Google Shape;93;p2:notes">
            <a:extLst>
              <a:ext uri="{FF2B5EF4-FFF2-40B4-BE49-F238E27FC236}">
                <a16:creationId xmlns:a16="http://schemas.microsoft.com/office/drawing/2014/main" id="{641D0A3D-D0C9-7230-064D-20B3E64797F1}"/>
              </a:ext>
            </a:extLst>
          </p:cNvPr>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4" name="Google Shape;94;p2:notes">
            <a:extLst>
              <a:ext uri="{FF2B5EF4-FFF2-40B4-BE49-F238E27FC236}">
                <a16:creationId xmlns:a16="http://schemas.microsoft.com/office/drawing/2014/main" id="{F6725C0E-8882-CDF7-70B6-8A707408C9B3}"/>
              </a:ext>
            </a:extLst>
          </p:cNvPr>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5158078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844078D-FD83-4DC4-87B5-6EAC763D5906}" type="datetime1">
              <a:rPr lang="en-US" smtClean="0"/>
              <a:pPr/>
              <a:t>2/28/2026</a:t>
            </a:fld>
            <a:endParaRPr/>
          </a:p>
        </p:txBody>
      </p:sp>
      <p:sp>
        <p:nvSpPr>
          <p:cNvPr id="19" name="Google Shape;19;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1DF9AFC-F9E1-4479-91CA-51DE23BE06C0}" type="datetime1">
              <a:rPr lang="en-US" smtClean="0"/>
              <a:pPr/>
              <a:t>2/28/2026</a:t>
            </a:fld>
            <a:endParaRPr/>
          </a:p>
        </p:txBody>
      </p:sp>
      <p:sp>
        <p:nvSpPr>
          <p:cNvPr id="25" name="Google Shape;25;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9"/>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9"/>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9FC8BA9-0052-4A4B-AAC4-F1DA6E9A0951}" type="datetime1">
              <a:rPr lang="en-US" smtClean="0"/>
              <a:pPr/>
              <a:t>2/28/2026</a:t>
            </a:fld>
            <a:endParaRPr/>
          </a:p>
        </p:txBody>
      </p:sp>
      <p:sp>
        <p:nvSpPr>
          <p:cNvPr id="31" name="Google Shape;31;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10"/>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EE5975C-54BF-4B80-AA1D-34FEDE04C514}" type="datetime1">
              <a:rPr lang="en-US" smtClean="0"/>
              <a:pPr/>
              <a:t>2/28/2026</a:t>
            </a:fld>
            <a:endParaRPr/>
          </a:p>
        </p:txBody>
      </p:sp>
      <p:sp>
        <p:nvSpPr>
          <p:cNvPr id="38" name="Google Shape;38;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1"/>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11"/>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11"/>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11"/>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935E131-B057-4B5A-921A-45A17AB83A39}" type="datetime1">
              <a:rPr lang="en-US" smtClean="0"/>
              <a:pPr/>
              <a:t>2/28/2026</a:t>
            </a:fld>
            <a:endParaRPr/>
          </a:p>
        </p:txBody>
      </p:sp>
      <p:sp>
        <p:nvSpPr>
          <p:cNvPr id="47" name="Google Shape;47;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D410C21-D32E-4039-AC8D-8060CCD087C7}" type="datetime1">
              <a:rPr lang="en-US" smtClean="0"/>
              <a:pPr/>
              <a:t>2/28/2026</a:t>
            </a:fld>
            <a:endParaRPr/>
          </a:p>
        </p:txBody>
      </p:sp>
      <p:sp>
        <p:nvSpPr>
          <p:cNvPr id="52" name="Google Shape;52;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A53B7AA-96E4-419F-92E0-36D1AA42338F}" type="datetime1">
              <a:rPr lang="en-US" smtClean="0"/>
              <a:pPr/>
              <a:t>2/28/2026</a:t>
            </a:fld>
            <a:endParaRPr/>
          </a:p>
        </p:txBody>
      </p:sp>
      <p:sp>
        <p:nvSpPr>
          <p:cNvPr id="56" name="Google Shape;56;p1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61" name="Google Shape;61;p1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2" name="Google Shape;62;p1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842470F-944B-4F77-8D45-B63A55CC33FF}" type="datetime1">
              <a:rPr lang="en-US" smtClean="0"/>
              <a:pPr/>
              <a:t>2/28/2026</a:t>
            </a:fld>
            <a:endParaRPr/>
          </a:p>
        </p:txBody>
      </p:sp>
      <p:sp>
        <p:nvSpPr>
          <p:cNvPr id="63" name="Google Shape;63;p1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5"/>
          <p:cNvSpPr>
            <a:spLocks noGrp="1"/>
          </p:cNvSpPr>
          <p:nvPr>
            <p:ph type="pic" idx="2"/>
          </p:nvPr>
        </p:nvSpPr>
        <p:spPr>
          <a:xfrm>
            <a:off x="1792288" y="612775"/>
            <a:ext cx="5486400" cy="4114800"/>
          </a:xfrm>
          <a:prstGeom prst="rect">
            <a:avLst/>
          </a:prstGeom>
          <a:noFill/>
          <a:ln>
            <a:noFill/>
          </a:ln>
        </p:spPr>
      </p:sp>
      <p:sp>
        <p:nvSpPr>
          <p:cNvPr id="68" name="Google Shape;68;p1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9" name="Google Shape;69;p1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B75A165D-5015-4ADC-9FF9-8C921860CB8C}" type="datetime1">
              <a:rPr lang="en-US" smtClean="0"/>
              <a:pPr/>
              <a:t>2/28/2026</a:t>
            </a:fld>
            <a:endParaRPr/>
          </a:p>
        </p:txBody>
      </p:sp>
      <p:sp>
        <p:nvSpPr>
          <p:cNvPr id="70" name="Google Shape;70;p1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5" name="Google Shape;75;p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6D6CF090-41B5-4D51-B0EA-9CC4891ED4B8}" type="datetime1">
              <a:rPr lang="en-US" smtClean="0"/>
              <a:pPr/>
              <a:t>2/28/2026</a:t>
            </a:fld>
            <a:endParaRPr/>
          </a:p>
        </p:txBody>
      </p:sp>
      <p:sp>
        <p:nvSpPr>
          <p:cNvPr id="76" name="Google Shape;76;p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81" name="Google Shape;81;p1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BF1B794-8BE6-4F88-BEF5-2F4D1E5B30A1}" type="datetime1">
              <a:rPr lang="en-US" smtClean="0"/>
              <a:pPr/>
              <a:t>2/28/2026</a:t>
            </a:fld>
            <a:endParaRPr/>
          </a:p>
        </p:txBody>
      </p:sp>
      <p:sp>
        <p:nvSpPr>
          <p:cNvPr id="82" name="Google Shape;82;p1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fld id="{9FC83D00-5052-4CBE-A416-5F7F5A2FF57A}" type="datetime1">
              <a:rPr lang="en-US" smtClean="0"/>
              <a:pPr/>
              <a:t>2/28/2026</a:t>
            </a:fld>
            <a:endParaRPr/>
          </a:p>
        </p:txBody>
      </p:sp>
      <p:sp>
        <p:nvSpPr>
          <p:cNvPr id="13" name="Google Shape;13;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007269" y="2335874"/>
            <a:ext cx="7772400" cy="1470025"/>
          </a:xfrm>
          <a:prstGeom prst="rect">
            <a:avLst/>
          </a:prstGeom>
          <a:noFill/>
          <a:ln>
            <a:noFill/>
          </a:ln>
        </p:spPr>
        <p:txBody>
          <a:bodyPr spcFirstLastPara="1" wrap="square" lIns="91425" tIns="45700" rIns="91425" bIns="45700" anchor="ctr" anchorCtr="0">
            <a:normAutofit/>
          </a:bodyPr>
          <a:lstStyle/>
          <a:p>
            <a:pPr lvl="0">
              <a:buSzPts val="4400"/>
            </a:pPr>
            <a:r>
              <a:rPr lang="en-IN" sz="3600" dirty="0">
                <a:latin typeface="Times New Roman" pitchFamily="18" charset="0"/>
                <a:cs typeface="Times New Roman" pitchFamily="18" charset="0"/>
              </a:rPr>
              <a:t>Session Integrity Firewall (SIF)</a:t>
            </a:r>
            <a:endParaRPr sz="3600" dirty="0">
              <a:latin typeface="Times New Roman" pitchFamily="18" charset="0"/>
              <a:cs typeface="Times New Roman" pitchFamily="18" charset="0"/>
            </a:endParaRPr>
          </a:p>
        </p:txBody>
      </p:sp>
      <p:sp>
        <p:nvSpPr>
          <p:cNvPr id="89" name="Google Shape;89;p1"/>
          <p:cNvSpPr txBox="1">
            <a:spLocks noGrp="1"/>
          </p:cNvSpPr>
          <p:nvPr>
            <p:ph type="subTitle" idx="1"/>
          </p:nvPr>
        </p:nvSpPr>
        <p:spPr>
          <a:xfrm>
            <a:off x="4572000" y="4699146"/>
            <a:ext cx="4376214" cy="2158854"/>
          </a:xfrm>
          <a:prstGeom prst="rect">
            <a:avLst/>
          </a:prstGeom>
          <a:noFill/>
          <a:ln>
            <a:noFill/>
          </a:ln>
        </p:spPr>
        <p:txBody>
          <a:bodyPr spcFirstLastPara="1" wrap="square" lIns="91425" tIns="45700" rIns="91425" bIns="45700" anchor="t" anchorCtr="0">
            <a:normAutofit/>
          </a:bodyPr>
          <a:lstStyle/>
          <a:p>
            <a:pPr marL="0" indent="0">
              <a:lnSpc>
                <a:spcPct val="150000"/>
              </a:lnSpc>
              <a:spcBef>
                <a:spcPts val="0"/>
              </a:spcBef>
              <a:buSzPct val="100000"/>
            </a:pPr>
            <a:r>
              <a:rPr lang="en-US" sz="1800" dirty="0">
                <a:latin typeface="Times New Roman" panose="02020603050405020304" pitchFamily="18" charset="0"/>
                <a:cs typeface="Times New Roman" panose="02020603050405020304" pitchFamily="18" charset="0"/>
              </a:rPr>
              <a:t>Batch ID: NWCMP141</a:t>
            </a:r>
          </a:p>
          <a:p>
            <a:pPr marL="0" indent="0">
              <a:lnSpc>
                <a:spcPct val="150000"/>
              </a:lnSpc>
              <a:spcBef>
                <a:spcPts val="0"/>
              </a:spcBef>
              <a:buSzPct val="100000"/>
            </a:pPr>
            <a:r>
              <a:rPr lang="en-US" sz="1800" dirty="0">
                <a:latin typeface="Times New Roman" panose="02020603050405020304" pitchFamily="18" charset="0"/>
                <a:cs typeface="Times New Roman" panose="02020603050405020304" pitchFamily="18" charset="0"/>
              </a:rPr>
              <a:t>Aryaman Chaudhary (RA2311030010222)</a:t>
            </a:r>
          </a:p>
          <a:p>
            <a:pPr marL="0" indent="0">
              <a:lnSpc>
                <a:spcPct val="150000"/>
              </a:lnSpc>
              <a:spcBef>
                <a:spcPts val="0"/>
              </a:spcBef>
              <a:buSzPct val="100000"/>
            </a:pPr>
            <a:r>
              <a:rPr lang="en-US" sz="1800" dirty="0">
                <a:latin typeface="Times New Roman" panose="02020603050405020304" pitchFamily="18" charset="0"/>
                <a:cs typeface="Times New Roman" panose="02020603050405020304" pitchFamily="18" charset="0"/>
              </a:rPr>
              <a:t>Smita Joshi (RA2311030010232)</a:t>
            </a:r>
          </a:p>
          <a:p>
            <a:pPr marL="0" indent="0">
              <a:lnSpc>
                <a:spcPct val="150000"/>
              </a:lnSpc>
              <a:spcBef>
                <a:spcPts val="0"/>
              </a:spcBef>
              <a:buSzPct val="100000"/>
            </a:pPr>
            <a:r>
              <a:rPr lang="en-US" sz="1800" dirty="0">
                <a:latin typeface="Times New Roman" panose="02020603050405020304" pitchFamily="18" charset="0"/>
                <a:cs typeface="Times New Roman" panose="02020603050405020304" pitchFamily="18" charset="0"/>
              </a:rPr>
              <a:t>Upanshu Pandey (RA2311030010248) </a:t>
            </a:r>
          </a:p>
          <a:p>
            <a:pPr marL="0" lvl="0" indent="0" algn="ctr" rtl="0">
              <a:spcBef>
                <a:spcPts val="0"/>
              </a:spcBef>
              <a:spcAft>
                <a:spcPts val="0"/>
              </a:spcAft>
              <a:buClr>
                <a:srgbClr val="888888"/>
              </a:buClr>
              <a:buSzPct val="100000"/>
              <a:buNone/>
            </a:pPr>
            <a:endParaRPr lang="en-US" sz="1800" dirty="0">
              <a:latin typeface="Times New Roman" panose="02020603050405020304" pitchFamily="18" charset="0"/>
              <a:cs typeface="Times New Roman" panose="02020603050405020304" pitchFamily="18" charset="0"/>
            </a:endParaRPr>
          </a:p>
          <a:p>
            <a:pPr marL="0" lvl="0" indent="0" algn="ctr" rtl="0">
              <a:spcBef>
                <a:spcPts val="0"/>
              </a:spcBef>
              <a:spcAft>
                <a:spcPts val="0"/>
              </a:spcAft>
              <a:buClr>
                <a:srgbClr val="888888"/>
              </a:buClr>
              <a:buSzPct val="100000"/>
              <a:buNone/>
            </a:pPr>
            <a:endParaRPr lang="en-US" sz="1800" dirty="0">
              <a:latin typeface="Times New Roman" panose="02020603050405020304" pitchFamily="18" charset="0"/>
              <a:cs typeface="Times New Roman" panose="02020603050405020304" pitchFamily="18" charset="0"/>
            </a:endParaRPr>
          </a:p>
          <a:p>
            <a:pPr marL="0" lvl="0" indent="0" algn="ctr" rtl="0">
              <a:spcBef>
                <a:spcPts val="592"/>
              </a:spcBef>
              <a:spcAft>
                <a:spcPts val="0"/>
              </a:spcAft>
              <a:buClr>
                <a:srgbClr val="888888"/>
              </a:buClr>
              <a:buSzPct val="100000"/>
              <a:buNone/>
            </a:pPr>
            <a:endParaRPr lang="en-US" dirty="0">
              <a:latin typeface="Times New Roman" panose="02020603050405020304" pitchFamily="18" charset="0"/>
              <a:cs typeface="Times New Roman" panose="02020603050405020304" pitchFamily="18" charset="0"/>
            </a:endParaRPr>
          </a:p>
        </p:txBody>
      </p:sp>
      <p:pic>
        <p:nvPicPr>
          <p:cNvPr id="90" name="Google Shape;90;p1"/>
          <p:cNvPicPr preferRelativeResize="0"/>
          <p:nvPr/>
        </p:nvPicPr>
        <p:blipFill rotWithShape="1">
          <a:blip r:embed="rId3">
            <a:alphaModFix/>
          </a:blip>
          <a:srcRect/>
          <a:stretch/>
        </p:blipFill>
        <p:spPr>
          <a:xfrm>
            <a:off x="240957" y="381155"/>
            <a:ext cx="1735931" cy="604400"/>
          </a:xfrm>
          <a:prstGeom prst="rect">
            <a:avLst/>
          </a:prstGeom>
          <a:noFill/>
          <a:ln>
            <a:noFill/>
          </a:ln>
        </p:spPr>
      </p:pic>
      <p:sp>
        <p:nvSpPr>
          <p:cNvPr id="91" name="Google Shape;91;p1"/>
          <p:cNvSpPr/>
          <p:nvPr/>
        </p:nvSpPr>
        <p:spPr>
          <a:xfrm>
            <a:off x="1964531" y="569724"/>
            <a:ext cx="6286840" cy="1477287"/>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SRM INSTITUTE OF SCIENCE AND TECHNOLOGY </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SCHOOL OF COMPUTING</a:t>
            </a:r>
            <a:endParaRPr sz="18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ctr" rtl="0">
              <a:spcBef>
                <a:spcPts val="0"/>
              </a:spcBef>
              <a:spcAft>
                <a:spcPts val="0"/>
              </a:spcAft>
              <a:buNone/>
            </a:pPr>
            <a:r>
              <a:rPr lang="en-US" sz="1800" b="1"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DEPARTMENT OF </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NETWORKING AND COMMUNICATIONS</a:t>
            </a:r>
          </a:p>
          <a:p>
            <a:pPr lvl="0" algn="ctr"/>
            <a:r>
              <a:rPr lang="en-IN" sz="1800" b="1" dirty="0"/>
              <a:t>21CSP302L</a:t>
            </a:r>
            <a:r>
              <a:rPr lang="en-US" sz="1800" b="1" dirty="0">
                <a:solidFill>
                  <a:schemeClr val="dk1"/>
                </a:solidFill>
                <a:latin typeface="Times New Roman" panose="02020603050405020304" pitchFamily="18" charset="0"/>
                <a:ea typeface="Calibri"/>
                <a:cs typeface="Times New Roman" panose="02020603050405020304" pitchFamily="18" charset="0"/>
                <a:sym typeface="Calibri"/>
              </a:rPr>
              <a:t> – MINOR PROJECT</a:t>
            </a:r>
          </a:p>
        </p:txBody>
      </p:sp>
      <p:sp>
        <p:nvSpPr>
          <p:cNvPr id="7" name="Google Shape;89;p1"/>
          <p:cNvSpPr txBox="1">
            <a:spLocks/>
          </p:cNvSpPr>
          <p:nvPr/>
        </p:nvSpPr>
        <p:spPr>
          <a:xfrm>
            <a:off x="195786" y="5055140"/>
            <a:ext cx="3471862" cy="187398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31800" algn="ctr" rtl="0">
              <a:lnSpc>
                <a:spcPct val="100000"/>
              </a:lnSpc>
              <a:spcBef>
                <a:spcPts val="640"/>
              </a:spcBef>
              <a:spcAft>
                <a:spcPts val="0"/>
              </a:spcAft>
              <a:buClr>
                <a:srgbClr val="888888"/>
              </a:buClr>
              <a:buSzPts val="3200"/>
              <a:buFont typeface="Arial"/>
              <a:buNone/>
              <a:defRPr sz="3200" b="0" i="0" u="none" strike="noStrike" cap="none">
                <a:solidFill>
                  <a:srgbClr val="888888"/>
                </a:solidFill>
                <a:latin typeface="Calibri"/>
                <a:ea typeface="Calibri"/>
                <a:cs typeface="Calibri"/>
                <a:sym typeface="Calibri"/>
              </a:defRPr>
            </a:lvl1pPr>
            <a:lvl2pPr marL="914400" marR="0" lvl="1" indent="-406400" algn="ctr" rtl="0">
              <a:lnSpc>
                <a:spcPct val="100000"/>
              </a:lnSpc>
              <a:spcBef>
                <a:spcPts val="560"/>
              </a:spcBef>
              <a:spcAft>
                <a:spcPts val="0"/>
              </a:spcAft>
              <a:buClr>
                <a:srgbClr val="888888"/>
              </a:buClr>
              <a:buSzPts val="2800"/>
              <a:buFont typeface="Arial"/>
              <a:buNone/>
              <a:defRPr sz="2800" b="0" i="0" u="none" strike="noStrike" cap="none">
                <a:solidFill>
                  <a:srgbClr val="888888"/>
                </a:solidFill>
                <a:latin typeface="Calibri"/>
                <a:ea typeface="Calibri"/>
                <a:cs typeface="Calibri"/>
                <a:sym typeface="Calibri"/>
              </a:defRPr>
            </a:lvl2pPr>
            <a:lvl3pPr marL="1371600" marR="0" lvl="2" indent="-381000" algn="ctr" rtl="0">
              <a:lnSpc>
                <a:spcPct val="100000"/>
              </a:lnSpc>
              <a:spcBef>
                <a:spcPts val="480"/>
              </a:spcBef>
              <a:spcAft>
                <a:spcPts val="0"/>
              </a:spcAft>
              <a:buClr>
                <a:srgbClr val="888888"/>
              </a:buClr>
              <a:buSzPts val="2400"/>
              <a:buFont typeface="Arial"/>
              <a:buNone/>
              <a:defRPr sz="2400" b="0" i="0" u="none" strike="noStrike" cap="none">
                <a:solidFill>
                  <a:srgbClr val="888888"/>
                </a:solidFill>
                <a:latin typeface="Calibri"/>
                <a:ea typeface="Calibri"/>
                <a:cs typeface="Calibri"/>
                <a:sym typeface="Calibri"/>
              </a:defRPr>
            </a:lvl3pPr>
            <a:lvl4pPr marL="1828800" marR="0" lvl="3"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4pPr>
            <a:lvl5pPr marL="2286000" marR="0" lvl="4"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marL="0" indent="0">
              <a:lnSpc>
                <a:spcPct val="150000"/>
              </a:lnSpc>
              <a:spcBef>
                <a:spcPts val="592"/>
              </a:spcBef>
              <a:buSzPct val="100000"/>
            </a:pPr>
            <a:r>
              <a:rPr lang="en-US" sz="1800" dirty="0">
                <a:latin typeface="Times New Roman" panose="02020603050405020304" pitchFamily="18" charset="0"/>
                <a:cs typeface="Times New Roman" panose="02020603050405020304" pitchFamily="18" charset="0"/>
              </a:rPr>
              <a:t>Guide name: Dr. Joseph Raymond </a:t>
            </a:r>
          </a:p>
          <a:p>
            <a:pPr marL="0" indent="0">
              <a:lnSpc>
                <a:spcPct val="150000"/>
              </a:lnSpc>
              <a:spcBef>
                <a:spcPts val="592"/>
              </a:spcBef>
              <a:buSzPct val="100000"/>
            </a:pPr>
            <a:r>
              <a:rPr lang="en-US" sz="1800" dirty="0">
                <a:latin typeface="Times New Roman" panose="02020603050405020304" pitchFamily="18" charset="0"/>
                <a:cs typeface="Times New Roman" panose="02020603050405020304" pitchFamily="18" charset="0"/>
              </a:rPr>
              <a:t>Designation: Assistant Professor</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Department: NWC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433673"/>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US" dirty="0"/>
              <a:t>  Introduction</a:t>
            </a:r>
            <a:br>
              <a:rPr lang="en-IN" dirty="0"/>
            </a:br>
            <a:endParaRPr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2</a:t>
            </a:fld>
            <a:endParaRPr/>
          </a:p>
        </p:txBody>
      </p:sp>
      <p:sp>
        <p:nvSpPr>
          <p:cNvPr id="2" name="Text Placeholder 1">
            <a:extLst>
              <a:ext uri="{FF2B5EF4-FFF2-40B4-BE49-F238E27FC236}">
                <a16:creationId xmlns:a16="http://schemas.microsoft.com/office/drawing/2014/main" id="{CC773F04-795C-5F1D-730F-BF1A828DE7B7}"/>
              </a:ext>
            </a:extLst>
          </p:cNvPr>
          <p:cNvSpPr>
            <a:spLocks noGrp="1" noChangeArrowheads="1"/>
          </p:cNvSpPr>
          <p:nvPr>
            <p:ph type="body" idx="1"/>
          </p:nvPr>
        </p:nvSpPr>
        <p:spPr bwMode="auto">
          <a:xfrm>
            <a:off x="594360" y="1576673"/>
            <a:ext cx="8229600" cy="4678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Modern web applications rely 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login-based authentication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After login, session tokens (JWT/cookies) are trusted until expiry </a:t>
            </a: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continuous verification during active sessions</a:t>
            </a:r>
          </a:p>
          <a:p>
            <a:pPr marL="285750" indent="-285750" algn="just" eaLnBrk="0" fontAlgn="base" hangingPunct="0">
              <a:spcBef>
                <a:spcPct val="0"/>
              </a:spcBef>
              <a:spcAft>
                <a:spcPct val="0"/>
              </a:spcAft>
              <a:buClrTx/>
              <a:buSzTx/>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Vulnerable to:</a:t>
            </a:r>
          </a:p>
          <a:p>
            <a:pPr marL="0" indent="0" algn="just"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-Session hijacking</a:t>
            </a:r>
          </a:p>
          <a:p>
            <a:pPr marL="0" indent="0" algn="just"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-Token replay attacks</a:t>
            </a:r>
          </a:p>
          <a:p>
            <a:pPr marL="0" indent="0" algn="just"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-Session fixation</a:t>
            </a:r>
          </a:p>
          <a:p>
            <a:pPr marL="0" indent="0" algn="just" eaLnBrk="0" fontAlgn="base" hangingPunct="0">
              <a:spcBef>
                <a:spcPct val="0"/>
              </a:spcBef>
              <a:spcAft>
                <a:spcPct val="0"/>
              </a:spcAft>
              <a:buClrTx/>
              <a:buSzTx/>
              <a:buNone/>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-Credential sharing</a:t>
            </a:r>
          </a:p>
          <a:p>
            <a:pPr marL="0" indent="0" algn="just" eaLnBrk="0" fontAlgn="base" hangingPunct="0">
              <a:spcBef>
                <a:spcPct val="0"/>
              </a:spcBef>
              <a:spcAft>
                <a:spcPct val="0"/>
              </a:spcAft>
              <a:buClrTx/>
              <a:buSzTx/>
              <a:buNone/>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for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continuous session integrity validation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Proposed Solution: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Session Integrity Firewall (SIF)</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Application-layer middleware</a:t>
            </a:r>
          </a:p>
          <a:p>
            <a:pPr marL="285750" indent="-285750" algn="just" eaLnBrk="0" fontAlgn="base" hangingPunct="0">
              <a:spcBef>
                <a:spcPct val="0"/>
              </a:spcBef>
              <a:spcAft>
                <a:spcPct val="0"/>
              </a:spcAft>
              <a:buClrTx/>
              <a:buSzTx/>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session validation system</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3" name="Google Shape;90;p1">
            <a:extLst>
              <a:ext uri="{FF2B5EF4-FFF2-40B4-BE49-F238E27FC236}">
                <a16:creationId xmlns:a16="http://schemas.microsoft.com/office/drawing/2014/main" id="{3F379618-094D-24D6-F096-EC78785DFA24}"/>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
          <p:cNvSpPr txBox="1">
            <a:spLocks noGrp="1"/>
          </p:cNvSpPr>
          <p:nvPr>
            <p:ph type="title"/>
          </p:nvPr>
        </p:nvSpPr>
        <p:spPr>
          <a:xfrm>
            <a:off x="457200" y="58597"/>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US" dirty="0"/>
              <a:t>      </a:t>
            </a:r>
            <a:r>
              <a:rPr lang="en-US" sz="4000" dirty="0"/>
              <a:t>Literature Survey</a:t>
            </a:r>
            <a:endParaRPr sz="4000" dirty="0"/>
          </a:p>
        </p:txBody>
      </p:sp>
      <p:sp>
        <p:nvSpPr>
          <p:cNvPr id="101" name="Google Shape;101;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3</a:t>
            </a:fld>
            <a:endParaRPr/>
          </a:p>
        </p:txBody>
      </p:sp>
      <p:graphicFrame>
        <p:nvGraphicFramePr>
          <p:cNvPr id="2" name="Table 1">
            <a:extLst>
              <a:ext uri="{FF2B5EF4-FFF2-40B4-BE49-F238E27FC236}">
                <a16:creationId xmlns:a16="http://schemas.microsoft.com/office/drawing/2014/main" id="{9E31E955-B89B-AB88-B239-3FE50D27A052}"/>
              </a:ext>
            </a:extLst>
          </p:cNvPr>
          <p:cNvGraphicFramePr>
            <a:graphicFrameLocks noGrp="1"/>
          </p:cNvGraphicFramePr>
          <p:nvPr>
            <p:extLst>
              <p:ext uri="{D42A27DB-BD31-4B8C-83A1-F6EECF244321}">
                <p14:modId xmlns:p14="http://schemas.microsoft.com/office/powerpoint/2010/main" val="2236604117"/>
              </p:ext>
            </p:extLst>
          </p:nvPr>
        </p:nvGraphicFramePr>
        <p:xfrm>
          <a:off x="662194" y="1417638"/>
          <a:ext cx="7819612" cy="4886155"/>
        </p:xfrm>
        <a:graphic>
          <a:graphicData uri="http://schemas.openxmlformats.org/drawingml/2006/table">
            <a:tbl>
              <a:tblPr firstRow="1" firstCol="1" bandRow="1">
                <a:tableStyleId>{5940675A-B579-460E-94D1-54222C63F5DA}</a:tableStyleId>
              </a:tblPr>
              <a:tblGrid>
                <a:gridCol w="785606">
                  <a:extLst>
                    <a:ext uri="{9D8B030D-6E8A-4147-A177-3AD203B41FA5}">
                      <a16:colId xmlns:a16="http://schemas.microsoft.com/office/drawing/2014/main" val="3624631483"/>
                    </a:ext>
                  </a:extLst>
                </a:gridCol>
                <a:gridCol w="3124200">
                  <a:extLst>
                    <a:ext uri="{9D8B030D-6E8A-4147-A177-3AD203B41FA5}">
                      <a16:colId xmlns:a16="http://schemas.microsoft.com/office/drawing/2014/main" val="10932021"/>
                    </a:ext>
                  </a:extLst>
                </a:gridCol>
                <a:gridCol w="1954903">
                  <a:extLst>
                    <a:ext uri="{9D8B030D-6E8A-4147-A177-3AD203B41FA5}">
                      <a16:colId xmlns:a16="http://schemas.microsoft.com/office/drawing/2014/main" val="1571393079"/>
                    </a:ext>
                  </a:extLst>
                </a:gridCol>
                <a:gridCol w="1954903">
                  <a:extLst>
                    <a:ext uri="{9D8B030D-6E8A-4147-A177-3AD203B41FA5}">
                      <a16:colId xmlns:a16="http://schemas.microsoft.com/office/drawing/2014/main" val="4272527324"/>
                    </a:ext>
                  </a:extLst>
                </a:gridCol>
              </a:tblGrid>
              <a:tr h="548322">
                <a:tc>
                  <a:txBody>
                    <a:bodyPr/>
                    <a:lstStyle/>
                    <a:p>
                      <a:pPr marL="0" marR="0">
                        <a:lnSpc>
                          <a:spcPct val="115000"/>
                        </a:lnSpc>
                        <a:spcAft>
                          <a:spcPts val="800"/>
                        </a:spcAft>
                        <a:buNone/>
                      </a:pPr>
                      <a:r>
                        <a:rPr lang="en-US" sz="1400" b="1" kern="100">
                          <a:effectLst/>
                        </a:rPr>
                        <a:t>S.No</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solidFill>
                      <a:schemeClr val="bg1">
                        <a:lumMod val="85000"/>
                      </a:schemeClr>
                    </a:solidFill>
                  </a:tcPr>
                </a:tc>
                <a:tc>
                  <a:txBody>
                    <a:bodyPr/>
                    <a:lstStyle/>
                    <a:p>
                      <a:pPr marL="0" marR="0">
                        <a:lnSpc>
                          <a:spcPct val="115000"/>
                        </a:lnSpc>
                        <a:spcAft>
                          <a:spcPts val="800"/>
                        </a:spcAft>
                        <a:buNone/>
                      </a:pPr>
                      <a:r>
                        <a:rPr lang="en-US" sz="1400" b="1" kern="100" dirty="0">
                          <a:effectLst/>
                        </a:rPr>
                        <a:t>Title (Journal, Authors, Year)</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solidFill>
                      <a:schemeClr val="bg1">
                        <a:lumMod val="85000"/>
                      </a:schemeClr>
                    </a:solidFill>
                  </a:tcPr>
                </a:tc>
                <a:tc>
                  <a:txBody>
                    <a:bodyPr/>
                    <a:lstStyle/>
                    <a:p>
                      <a:pPr marL="0" marR="0">
                        <a:lnSpc>
                          <a:spcPct val="115000"/>
                        </a:lnSpc>
                        <a:spcAft>
                          <a:spcPts val="800"/>
                        </a:spcAft>
                        <a:buNone/>
                      </a:pPr>
                      <a:r>
                        <a:rPr lang="en-US" sz="1400" b="1" kern="100">
                          <a:effectLst/>
                        </a:rPr>
                        <a:t>Methodology / Key Findings</a:t>
                      </a:r>
                      <a:endParaRPr lang="en-US" sz="14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solidFill>
                      <a:schemeClr val="bg1">
                        <a:lumMod val="85000"/>
                      </a:schemeClr>
                    </a:solidFill>
                  </a:tcPr>
                </a:tc>
                <a:tc>
                  <a:txBody>
                    <a:bodyPr/>
                    <a:lstStyle/>
                    <a:p>
                      <a:pPr marL="0" marR="0">
                        <a:lnSpc>
                          <a:spcPct val="115000"/>
                        </a:lnSpc>
                        <a:spcAft>
                          <a:spcPts val="800"/>
                        </a:spcAft>
                        <a:buNone/>
                      </a:pPr>
                      <a:r>
                        <a:rPr lang="en-US" sz="1400" b="1" kern="100" dirty="0">
                          <a:effectLst/>
                        </a:rPr>
                        <a:t>Gaps &amp; Limitations</a:t>
                      </a:r>
                      <a:endParaRPr lang="en-US" sz="14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solidFill>
                      <a:schemeClr val="bg1">
                        <a:lumMod val="85000"/>
                      </a:schemeClr>
                    </a:solidFill>
                  </a:tcPr>
                </a:tc>
                <a:extLst>
                  <a:ext uri="{0D108BD9-81ED-4DB2-BD59-A6C34878D82A}">
                    <a16:rowId xmlns:a16="http://schemas.microsoft.com/office/drawing/2014/main" val="3874885285"/>
                  </a:ext>
                </a:extLst>
              </a:tr>
              <a:tr h="787633">
                <a:tc>
                  <a:txBody>
                    <a:bodyPr/>
                    <a:lstStyle/>
                    <a:p>
                      <a:pPr marL="0" marR="0">
                        <a:lnSpc>
                          <a:spcPct val="115000"/>
                        </a:lnSpc>
                        <a:spcAft>
                          <a:spcPts val="800"/>
                        </a:spcAft>
                        <a:buNone/>
                      </a:pPr>
                      <a:r>
                        <a:rPr lang="en-US" sz="1100" kern="100">
                          <a:effectLst/>
                        </a:rPr>
                        <a:t>1</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dirty="0">
                          <a:effectLst/>
                        </a:rPr>
                        <a:t>Popov, A., Nystrom, M., Balfanz, D. (2018). Token Binding Protocol Version 1.0. RFC 8471, IETF</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Cryptographic binding of tokens to TLS sessions to prevent replay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Requires browser support; limited adoption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extLst>
                  <a:ext uri="{0D108BD9-81ED-4DB2-BD59-A6C34878D82A}">
                    <a16:rowId xmlns:a16="http://schemas.microsoft.com/office/drawing/2014/main" val="3273330284"/>
                  </a:ext>
                </a:extLst>
              </a:tr>
              <a:tr h="787633">
                <a:tc>
                  <a:txBody>
                    <a:bodyPr/>
                    <a:lstStyle/>
                    <a:p>
                      <a:pPr marL="0" marR="0">
                        <a:lnSpc>
                          <a:spcPct val="115000"/>
                        </a:lnSpc>
                        <a:spcAft>
                          <a:spcPts val="800"/>
                        </a:spcAft>
                        <a:buNone/>
                      </a:pPr>
                      <a:r>
                        <a:rPr lang="en-US" sz="1100" kern="100">
                          <a:effectLst/>
                        </a:rPr>
                        <a:t>2</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it-IT" sz="1100" kern="100">
                          <a:effectLst/>
                        </a:rPr>
                        <a:t>Amira, A., Hammoudeh, M., et al. </a:t>
                      </a:r>
                      <a:r>
                        <a:rPr lang="en-US" sz="1100" kern="100">
                          <a:effectLst/>
                        </a:rPr>
                        <a:t>(2017). Sound and Static Analysis of Session Fixation. ACM Conference</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Static analysis techniques to detect session fixation vulnerabilities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Focused on detection rather than prevention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extLst>
                  <a:ext uri="{0D108BD9-81ED-4DB2-BD59-A6C34878D82A}">
                    <a16:rowId xmlns:a16="http://schemas.microsoft.com/office/drawing/2014/main" val="3771914874"/>
                  </a:ext>
                </a:extLst>
              </a:tr>
              <a:tr h="787633">
                <a:tc>
                  <a:txBody>
                    <a:bodyPr/>
                    <a:lstStyle/>
                    <a:p>
                      <a:pPr marL="0" marR="0">
                        <a:lnSpc>
                          <a:spcPct val="115000"/>
                        </a:lnSpc>
                        <a:spcAft>
                          <a:spcPts val="800"/>
                        </a:spcAft>
                        <a:buNone/>
                      </a:pPr>
                      <a:r>
                        <a:rPr lang="en-US" sz="1100" kern="100">
                          <a:effectLst/>
                        </a:rPr>
                        <a:t>3</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Juels, A., Brainard, J. (2012). Client-Side Defense Against Web Session Hijacking. ACM CCS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One-time cookie/token approaches to prevent replay attacks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Usability and scalability challenges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extLst>
                  <a:ext uri="{0D108BD9-81ED-4DB2-BD59-A6C34878D82A}">
                    <a16:rowId xmlns:a16="http://schemas.microsoft.com/office/drawing/2014/main" val="411862007"/>
                  </a:ext>
                </a:extLst>
              </a:tr>
              <a:tr h="987467">
                <a:tc>
                  <a:txBody>
                    <a:bodyPr/>
                    <a:lstStyle/>
                    <a:p>
                      <a:pPr marL="0" marR="0">
                        <a:lnSpc>
                          <a:spcPct val="115000"/>
                        </a:lnSpc>
                        <a:spcAft>
                          <a:spcPts val="800"/>
                        </a:spcAft>
                        <a:buNone/>
                      </a:pPr>
                      <a:r>
                        <a:rPr lang="en-US" sz="1100" kern="100">
                          <a:effectLst/>
                        </a:rPr>
                        <a:t>4</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Fett, D., Küsters, R., Schmitz, G. (2024). A Comprehensive Security Analysis of JSON Web Tokens. Journal of Web Security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Evaluated JWT misuse patterns and attack vectors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Does not provide runtime validation mechanisms</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extLst>
                  <a:ext uri="{0D108BD9-81ED-4DB2-BD59-A6C34878D82A}">
                    <a16:rowId xmlns:a16="http://schemas.microsoft.com/office/drawing/2014/main" val="4031527768"/>
                  </a:ext>
                </a:extLst>
              </a:tr>
              <a:tr h="987467">
                <a:tc>
                  <a:txBody>
                    <a:bodyPr/>
                    <a:lstStyle/>
                    <a:p>
                      <a:pPr marL="0" marR="0">
                        <a:lnSpc>
                          <a:spcPct val="115000"/>
                        </a:lnSpc>
                        <a:spcAft>
                          <a:spcPts val="800"/>
                        </a:spcAft>
                        <a:buNone/>
                      </a:pPr>
                      <a:r>
                        <a:rPr lang="en-US" sz="1100" kern="100">
                          <a:effectLst/>
                        </a:rPr>
                        <a:t>5</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it-IT" sz="1100" kern="100">
                          <a:effectLst/>
                        </a:rPr>
                        <a:t>Wiefling, S., Lo Iacono, L., et al. </a:t>
                      </a:r>
                      <a:r>
                        <a:rPr lang="en-US" sz="1100" kern="100">
                          <a:effectLst/>
                        </a:rPr>
                        <a:t>(2019). Risk-Based Authentication: Empirical Evaluation. IEEE Security &amp; Privacy</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a:effectLst/>
                        </a:rPr>
                        <a:t>Context-aware login risk scoring and adaptive authentication</a:t>
                      </a:r>
                      <a:endParaRPr lang="en-US"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tc>
                  <a:txBody>
                    <a:bodyPr/>
                    <a:lstStyle/>
                    <a:p>
                      <a:pPr marL="0" marR="0">
                        <a:lnSpc>
                          <a:spcPct val="115000"/>
                        </a:lnSpc>
                        <a:spcAft>
                          <a:spcPts val="800"/>
                        </a:spcAft>
                        <a:buNone/>
                      </a:pPr>
                      <a:r>
                        <a:rPr lang="en-US" sz="1100" kern="100" dirty="0">
                          <a:effectLst/>
                        </a:rPr>
                        <a:t>Protection limited to login stage</a:t>
                      </a:r>
                      <a:endParaRPr lang="en-US" sz="11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5163" marR="65163" marT="0" marB="0"/>
                </a:tc>
                <a:extLst>
                  <a:ext uri="{0D108BD9-81ED-4DB2-BD59-A6C34878D82A}">
                    <a16:rowId xmlns:a16="http://schemas.microsoft.com/office/drawing/2014/main" val="1605428737"/>
                  </a:ext>
                </a:extLst>
              </a:tr>
            </a:tbl>
          </a:graphicData>
        </a:graphic>
      </p:graphicFrame>
      <p:pic>
        <p:nvPicPr>
          <p:cNvPr id="3" name="Google Shape;90;p1">
            <a:extLst>
              <a:ext uri="{FF2B5EF4-FFF2-40B4-BE49-F238E27FC236}">
                <a16:creationId xmlns:a16="http://schemas.microsoft.com/office/drawing/2014/main" id="{3723455E-F286-4980-44ED-F25E7D667D94}"/>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10660869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1E82C82C-CB78-CC88-A6CB-7D8D8E90AFD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CDEBE8D-DABA-4DF2-1567-F31797C509C5}"/>
              </a:ext>
            </a:extLst>
          </p:cNvPr>
          <p:cNvSpPr txBox="1">
            <a:spLocks noGrp="1"/>
          </p:cNvSpPr>
          <p:nvPr>
            <p:ph type="title"/>
          </p:nvPr>
        </p:nvSpPr>
        <p:spPr>
          <a:xfrm>
            <a:off x="457200" y="122015"/>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US" dirty="0"/>
              <a:t>    </a:t>
            </a:r>
            <a:r>
              <a:rPr lang="en-US" sz="4000" dirty="0"/>
              <a:t>Literature Survey</a:t>
            </a:r>
            <a:endParaRPr sz="4000" dirty="0"/>
          </a:p>
        </p:txBody>
      </p:sp>
      <p:sp>
        <p:nvSpPr>
          <p:cNvPr id="101" name="Google Shape;101;p2">
            <a:extLst>
              <a:ext uri="{FF2B5EF4-FFF2-40B4-BE49-F238E27FC236}">
                <a16:creationId xmlns:a16="http://schemas.microsoft.com/office/drawing/2014/main" id="{8D9E8841-AEFB-5649-5304-078F6CE4BD8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4</a:t>
            </a:fld>
            <a:endParaRPr/>
          </a:p>
        </p:txBody>
      </p:sp>
      <p:graphicFrame>
        <p:nvGraphicFramePr>
          <p:cNvPr id="3" name="Table 2">
            <a:extLst>
              <a:ext uri="{FF2B5EF4-FFF2-40B4-BE49-F238E27FC236}">
                <a16:creationId xmlns:a16="http://schemas.microsoft.com/office/drawing/2014/main" id="{04F8B646-DA1B-39D6-46F1-36646BF5696A}"/>
              </a:ext>
            </a:extLst>
          </p:cNvPr>
          <p:cNvGraphicFramePr>
            <a:graphicFrameLocks noGrp="1"/>
          </p:cNvGraphicFramePr>
          <p:nvPr>
            <p:extLst>
              <p:ext uri="{D42A27DB-BD31-4B8C-83A1-F6EECF244321}">
                <p14:modId xmlns:p14="http://schemas.microsoft.com/office/powerpoint/2010/main" val="1332040076"/>
              </p:ext>
            </p:extLst>
          </p:nvPr>
        </p:nvGraphicFramePr>
        <p:xfrm>
          <a:off x="457200" y="1526699"/>
          <a:ext cx="8229600" cy="4513790"/>
        </p:xfrm>
        <a:graphic>
          <a:graphicData uri="http://schemas.openxmlformats.org/drawingml/2006/table">
            <a:tbl>
              <a:tblPr firstRow="1" firstCol="1" bandRow="1">
                <a:tableStyleId>{5940675A-B579-460E-94D1-54222C63F5DA}</a:tableStyleId>
              </a:tblPr>
              <a:tblGrid>
                <a:gridCol w="762000">
                  <a:extLst>
                    <a:ext uri="{9D8B030D-6E8A-4147-A177-3AD203B41FA5}">
                      <a16:colId xmlns:a16="http://schemas.microsoft.com/office/drawing/2014/main" val="3711727478"/>
                    </a:ext>
                  </a:extLst>
                </a:gridCol>
                <a:gridCol w="3352800">
                  <a:extLst>
                    <a:ext uri="{9D8B030D-6E8A-4147-A177-3AD203B41FA5}">
                      <a16:colId xmlns:a16="http://schemas.microsoft.com/office/drawing/2014/main" val="2693411302"/>
                    </a:ext>
                  </a:extLst>
                </a:gridCol>
                <a:gridCol w="2057400">
                  <a:extLst>
                    <a:ext uri="{9D8B030D-6E8A-4147-A177-3AD203B41FA5}">
                      <a16:colId xmlns:a16="http://schemas.microsoft.com/office/drawing/2014/main" val="635234381"/>
                    </a:ext>
                  </a:extLst>
                </a:gridCol>
                <a:gridCol w="2057400">
                  <a:extLst>
                    <a:ext uri="{9D8B030D-6E8A-4147-A177-3AD203B41FA5}">
                      <a16:colId xmlns:a16="http://schemas.microsoft.com/office/drawing/2014/main" val="462174100"/>
                    </a:ext>
                  </a:extLst>
                </a:gridCol>
              </a:tblGrid>
              <a:tr h="902758">
                <a:tc>
                  <a:txBody>
                    <a:bodyPr/>
                    <a:lstStyle/>
                    <a:p>
                      <a:pPr marL="0" marR="0">
                        <a:lnSpc>
                          <a:spcPct val="115000"/>
                        </a:lnSpc>
                        <a:spcAft>
                          <a:spcPts val="800"/>
                        </a:spcAft>
                        <a:buNone/>
                      </a:pPr>
                      <a:r>
                        <a:rPr lang="en-US" sz="1200" kern="100">
                          <a:effectLst/>
                        </a:rPr>
                        <a:t>6</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Baig, A. F., et al. (2021). Continuous Authentication: A Survey. IEEE Access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Behavioral and biometric continuous authentication methods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High computational overhead</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34772038"/>
                  </a:ext>
                </a:extLst>
              </a:tr>
              <a:tr h="902758">
                <a:tc>
                  <a:txBody>
                    <a:bodyPr/>
                    <a:lstStyle/>
                    <a:p>
                      <a:pPr marL="0" marR="0">
                        <a:lnSpc>
                          <a:spcPct val="115000"/>
                        </a:lnSpc>
                        <a:spcAft>
                          <a:spcPts val="800"/>
                        </a:spcAft>
                        <a:buNone/>
                      </a:pPr>
                      <a:r>
                        <a:rPr lang="en-US" sz="1200" kern="100">
                          <a:effectLst/>
                        </a:rPr>
                        <a:t>7</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Alaca, F., van Oorschot, P. (2016). Device Fingerprinting for Adaptive Authentication. ACM Workshop</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Behavioral pattern and device fingerprinting for step-up authentication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Requires large behavioral datasets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8196657"/>
                  </a:ext>
                </a:extLst>
              </a:tr>
              <a:tr h="902758">
                <a:tc>
                  <a:txBody>
                    <a:bodyPr/>
                    <a:lstStyle/>
                    <a:p>
                      <a:pPr marL="0" marR="0">
                        <a:lnSpc>
                          <a:spcPct val="115000"/>
                        </a:lnSpc>
                        <a:spcAft>
                          <a:spcPts val="800"/>
                        </a:spcAft>
                        <a:buNone/>
                      </a:pPr>
                      <a:r>
                        <a:rPr lang="en-US" sz="1200" kern="100">
                          <a:effectLst/>
                        </a:rPr>
                        <a:t>8</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Nguyen, T., Reddi, V. (2023). RLAuth: Risk-Based Authentication Using Reinforcement Learning. IEEE Access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Reinforcement learning for adaptive authentication challenges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Complex training and deployment</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6618694"/>
                  </a:ext>
                </a:extLst>
              </a:tr>
              <a:tr h="902758">
                <a:tc>
                  <a:txBody>
                    <a:bodyPr/>
                    <a:lstStyle/>
                    <a:p>
                      <a:pPr marL="0" marR="0">
                        <a:lnSpc>
                          <a:spcPct val="115000"/>
                        </a:lnSpc>
                        <a:spcAft>
                          <a:spcPts val="800"/>
                        </a:spcAft>
                        <a:buNone/>
                      </a:pPr>
                      <a:r>
                        <a:rPr lang="en-US" sz="1200" kern="100">
                          <a:effectLst/>
                        </a:rPr>
                        <a:t>9</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Wang, X., Zhao, Y. (2022). Keystroke Dynamics-Based Continuous Authentication. Sensors Journal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Behavioral biometrics for continuous identity verification</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Behavioral drift affects accuracy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36857757"/>
                  </a:ext>
                </a:extLst>
              </a:tr>
              <a:tr h="902758">
                <a:tc>
                  <a:txBody>
                    <a:bodyPr/>
                    <a:lstStyle/>
                    <a:p>
                      <a:pPr marL="0" marR="0">
                        <a:lnSpc>
                          <a:spcPct val="115000"/>
                        </a:lnSpc>
                        <a:spcAft>
                          <a:spcPts val="800"/>
                        </a:spcAft>
                        <a:buNone/>
                      </a:pPr>
                      <a:r>
                        <a:rPr lang="en-US" sz="1200" kern="100">
                          <a:effectLst/>
                        </a:rPr>
                        <a:t>10</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Mondal, S., Bours, P. (2017). Continuous Authentication Using Mouse Dynamics. Pattern Recognition Letters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Multi-modal behavioral authentication improves accuracy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dirty="0">
                          <a:effectLst/>
                        </a:rPr>
                        <a:t>Privacy concerns</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31514346"/>
                  </a:ext>
                </a:extLst>
              </a:tr>
            </a:tbl>
          </a:graphicData>
        </a:graphic>
      </p:graphicFrame>
      <p:pic>
        <p:nvPicPr>
          <p:cNvPr id="4" name="Google Shape;90;p1">
            <a:extLst>
              <a:ext uri="{FF2B5EF4-FFF2-40B4-BE49-F238E27FC236}">
                <a16:creationId xmlns:a16="http://schemas.microsoft.com/office/drawing/2014/main" id="{B1285671-EF8E-485C-B209-6193E05709CB}"/>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121221799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E24B9AA-0072-D57D-4E15-62F58B0E3BCC}"/>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3E7FF7B8-AB43-EA42-38C1-83E35BC19D22}"/>
              </a:ext>
            </a:extLst>
          </p:cNvPr>
          <p:cNvSpPr txBox="1">
            <a:spLocks noGrp="1"/>
          </p:cNvSpPr>
          <p:nvPr>
            <p:ph type="title"/>
          </p:nvPr>
        </p:nvSpPr>
        <p:spPr>
          <a:xfrm>
            <a:off x="457200" y="111855"/>
            <a:ext cx="8229600" cy="1143000"/>
          </a:xfrm>
          <a:prstGeom prst="rect">
            <a:avLst/>
          </a:prstGeom>
          <a:noFill/>
          <a:ln>
            <a:noFill/>
          </a:ln>
        </p:spPr>
        <p:txBody>
          <a:bodyPr spcFirstLastPara="1" wrap="square" lIns="91425" tIns="45700" rIns="91425" bIns="45700" anchor="ctr" anchorCtr="0">
            <a:normAutofit/>
          </a:bodyPr>
          <a:lstStyle/>
          <a:p>
            <a:pPr lvl="0">
              <a:buSzPts val="4400"/>
            </a:pPr>
            <a:r>
              <a:rPr lang="en-US" dirty="0"/>
              <a:t>      </a:t>
            </a:r>
            <a:r>
              <a:rPr lang="en-US" sz="4000" dirty="0"/>
              <a:t>Literature Survey</a:t>
            </a:r>
            <a:endParaRPr sz="4000" dirty="0"/>
          </a:p>
        </p:txBody>
      </p:sp>
      <p:sp>
        <p:nvSpPr>
          <p:cNvPr id="101" name="Google Shape;101;p2">
            <a:extLst>
              <a:ext uri="{FF2B5EF4-FFF2-40B4-BE49-F238E27FC236}">
                <a16:creationId xmlns:a16="http://schemas.microsoft.com/office/drawing/2014/main" id="{76072AF8-0D17-63F6-C12A-45E0507ADE0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5</a:t>
            </a:fld>
            <a:endParaRPr/>
          </a:p>
        </p:txBody>
      </p:sp>
      <p:graphicFrame>
        <p:nvGraphicFramePr>
          <p:cNvPr id="2" name="Table 1">
            <a:extLst>
              <a:ext uri="{FF2B5EF4-FFF2-40B4-BE49-F238E27FC236}">
                <a16:creationId xmlns:a16="http://schemas.microsoft.com/office/drawing/2014/main" id="{980688BF-6AA2-772B-BC96-AEDC184A4D21}"/>
              </a:ext>
            </a:extLst>
          </p:cNvPr>
          <p:cNvGraphicFramePr>
            <a:graphicFrameLocks noGrp="1"/>
          </p:cNvGraphicFramePr>
          <p:nvPr>
            <p:extLst>
              <p:ext uri="{D42A27DB-BD31-4B8C-83A1-F6EECF244321}">
                <p14:modId xmlns:p14="http://schemas.microsoft.com/office/powerpoint/2010/main" val="727051343"/>
              </p:ext>
            </p:extLst>
          </p:nvPr>
        </p:nvGraphicFramePr>
        <p:xfrm>
          <a:off x="457200" y="1685703"/>
          <a:ext cx="8229600" cy="4561375"/>
        </p:xfrm>
        <a:graphic>
          <a:graphicData uri="http://schemas.openxmlformats.org/drawingml/2006/table">
            <a:tbl>
              <a:tblPr firstRow="1" firstCol="1" bandRow="1">
                <a:tableStyleId>{5940675A-B579-460E-94D1-54222C63F5DA}</a:tableStyleId>
              </a:tblPr>
              <a:tblGrid>
                <a:gridCol w="883920">
                  <a:extLst>
                    <a:ext uri="{9D8B030D-6E8A-4147-A177-3AD203B41FA5}">
                      <a16:colId xmlns:a16="http://schemas.microsoft.com/office/drawing/2014/main" val="1634866071"/>
                    </a:ext>
                  </a:extLst>
                </a:gridCol>
                <a:gridCol w="3230880">
                  <a:extLst>
                    <a:ext uri="{9D8B030D-6E8A-4147-A177-3AD203B41FA5}">
                      <a16:colId xmlns:a16="http://schemas.microsoft.com/office/drawing/2014/main" val="2634187690"/>
                    </a:ext>
                  </a:extLst>
                </a:gridCol>
                <a:gridCol w="2057400">
                  <a:extLst>
                    <a:ext uri="{9D8B030D-6E8A-4147-A177-3AD203B41FA5}">
                      <a16:colId xmlns:a16="http://schemas.microsoft.com/office/drawing/2014/main" val="1987211358"/>
                    </a:ext>
                  </a:extLst>
                </a:gridCol>
                <a:gridCol w="2057400">
                  <a:extLst>
                    <a:ext uri="{9D8B030D-6E8A-4147-A177-3AD203B41FA5}">
                      <a16:colId xmlns:a16="http://schemas.microsoft.com/office/drawing/2014/main" val="241005981"/>
                    </a:ext>
                  </a:extLst>
                </a:gridCol>
              </a:tblGrid>
              <a:tr h="912275">
                <a:tc>
                  <a:txBody>
                    <a:bodyPr/>
                    <a:lstStyle/>
                    <a:p>
                      <a:pPr marL="0" marR="0">
                        <a:lnSpc>
                          <a:spcPct val="115000"/>
                        </a:lnSpc>
                        <a:spcAft>
                          <a:spcPts val="800"/>
                        </a:spcAft>
                        <a:buNone/>
                      </a:pPr>
                      <a:r>
                        <a:rPr lang="en-US" sz="1200" kern="100">
                          <a:effectLst/>
                        </a:rPr>
                        <a:t>11</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dirty="0">
                          <a:effectLst/>
                        </a:rPr>
                        <a:t>Soni, N., Patel, R. (2024). Performance and Security Tradeoffs of JWT. Journal of Network Security</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Evaluated JWT performance-security balance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No anomaly detection mechanism</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02321976"/>
                  </a:ext>
                </a:extLst>
              </a:tr>
              <a:tr h="912275">
                <a:tc>
                  <a:txBody>
                    <a:bodyPr/>
                    <a:lstStyle/>
                    <a:p>
                      <a:pPr marL="0" marR="0">
                        <a:lnSpc>
                          <a:spcPct val="115000"/>
                        </a:lnSpc>
                        <a:spcAft>
                          <a:spcPts val="800"/>
                        </a:spcAft>
                        <a:buNone/>
                      </a:pPr>
                      <a:r>
                        <a:rPr lang="en-US" sz="1200" kern="100">
                          <a:effectLst/>
                        </a:rPr>
                        <a:t>12</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Bhaturkar, P., et al. (2014). Prevention of Session Hijacking and IP Spoofing. IJCSMC Journal</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Network-layer cryptographic defenses for session hijacking</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Lack of application-layer controls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264385196"/>
                  </a:ext>
                </a:extLst>
              </a:tr>
              <a:tr h="912275">
                <a:tc>
                  <a:txBody>
                    <a:bodyPr/>
                    <a:lstStyle/>
                    <a:p>
                      <a:pPr marL="0" marR="0">
                        <a:lnSpc>
                          <a:spcPct val="115000"/>
                        </a:lnSpc>
                        <a:spcAft>
                          <a:spcPts val="800"/>
                        </a:spcAft>
                        <a:buNone/>
                      </a:pPr>
                      <a:r>
                        <a:rPr lang="en-US" sz="1200" kern="100">
                          <a:effectLst/>
                        </a:rPr>
                        <a:t>13</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Ryu, J., Lee, S. (2023). Adaptive Biometric Authentication Systems: Survey. Computers &amp; Security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Adaptive biometric authentication models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Requires specialized hardware</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81806460"/>
                  </a:ext>
                </a:extLst>
              </a:tr>
              <a:tr h="912275">
                <a:tc>
                  <a:txBody>
                    <a:bodyPr/>
                    <a:lstStyle/>
                    <a:p>
                      <a:pPr marL="0" marR="0">
                        <a:lnSpc>
                          <a:spcPct val="115000"/>
                        </a:lnSpc>
                        <a:spcAft>
                          <a:spcPts val="800"/>
                        </a:spcAft>
                        <a:buNone/>
                      </a:pPr>
                      <a:r>
                        <a:rPr lang="en-US" sz="1200" kern="100">
                          <a:effectLst/>
                        </a:rPr>
                        <a:t>14</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Campbell, B., Sakimura, N. (2018). OpenID Connect Token Bound Authentication. OpenID Foundation Spec</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Token binding for identity federation security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Deployment complexity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886088734"/>
                  </a:ext>
                </a:extLst>
              </a:tr>
              <a:tr h="912275">
                <a:tc>
                  <a:txBody>
                    <a:bodyPr/>
                    <a:lstStyle/>
                    <a:p>
                      <a:pPr marL="0" marR="0">
                        <a:lnSpc>
                          <a:spcPct val="115000"/>
                        </a:lnSpc>
                        <a:spcAft>
                          <a:spcPts val="800"/>
                        </a:spcAft>
                        <a:buNone/>
                      </a:pPr>
                      <a:r>
                        <a:rPr lang="en-US" sz="1200" kern="100">
                          <a:effectLst/>
                        </a:rPr>
                        <a:t>15</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Sharma, K., Gupta, R. (2026). REST API Security Using JWT in Session Management. International Journal of Information Security</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a:effectLst/>
                        </a:rPr>
                        <a:t>Practical JWT session management improvements</a:t>
                      </a:r>
                      <a:endParaRPr lang="en-US" sz="12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200" kern="100" dirty="0">
                          <a:effectLst/>
                        </a:rPr>
                        <a:t>Focused on implementation rather than continuous validation</a:t>
                      </a:r>
                      <a:endParaRPr lang="en-US" sz="12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959297239"/>
                  </a:ext>
                </a:extLst>
              </a:tr>
            </a:tbl>
          </a:graphicData>
        </a:graphic>
      </p:graphicFrame>
      <p:pic>
        <p:nvPicPr>
          <p:cNvPr id="4" name="Google Shape;90;p1">
            <a:extLst>
              <a:ext uri="{FF2B5EF4-FFF2-40B4-BE49-F238E27FC236}">
                <a16:creationId xmlns:a16="http://schemas.microsoft.com/office/drawing/2014/main" id="{9A8BE2C1-08F7-F229-22C2-27C1A0F3F95E}"/>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1473908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C3E3D23-FA44-4D51-ACE1-881854BA8E5B}"/>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11399BC-8B02-6ACC-1C90-178EA0098A78}"/>
              </a:ext>
            </a:extLst>
          </p:cNvPr>
          <p:cNvSpPr txBox="1">
            <a:spLocks noGrp="1"/>
          </p:cNvSpPr>
          <p:nvPr>
            <p:ph type="title"/>
          </p:nvPr>
        </p:nvSpPr>
        <p:spPr>
          <a:xfrm>
            <a:off x="1191768" y="333440"/>
            <a:ext cx="7114032" cy="767778"/>
          </a:xfrm>
          <a:prstGeom prst="rect">
            <a:avLst/>
          </a:prstGeom>
          <a:noFill/>
          <a:ln>
            <a:noFill/>
          </a:ln>
        </p:spPr>
        <p:txBody>
          <a:bodyPr spcFirstLastPara="1" wrap="square" lIns="91425" tIns="45700" rIns="91425" bIns="45700" anchor="ctr" anchorCtr="0">
            <a:normAutofit/>
          </a:bodyPr>
          <a:lstStyle/>
          <a:p>
            <a:pPr lvl="0">
              <a:buSzPts val="4400"/>
            </a:pPr>
            <a:r>
              <a:rPr lang="en-IN" dirty="0"/>
              <a:t>Research Gaps</a:t>
            </a:r>
            <a:endParaRPr dirty="0"/>
          </a:p>
        </p:txBody>
      </p:sp>
      <p:sp>
        <p:nvSpPr>
          <p:cNvPr id="101" name="Google Shape;101;p2">
            <a:extLst>
              <a:ext uri="{FF2B5EF4-FFF2-40B4-BE49-F238E27FC236}">
                <a16:creationId xmlns:a16="http://schemas.microsoft.com/office/drawing/2014/main" id="{05B830AD-27DB-1EB3-2DFC-28C7FF45513A}"/>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6</a:t>
            </a:fld>
            <a:endParaRPr/>
          </a:p>
        </p:txBody>
      </p:sp>
      <p:sp>
        <p:nvSpPr>
          <p:cNvPr id="3" name="Text Placeholder 2">
            <a:extLst>
              <a:ext uri="{FF2B5EF4-FFF2-40B4-BE49-F238E27FC236}">
                <a16:creationId xmlns:a16="http://schemas.microsoft.com/office/drawing/2014/main" id="{3C35EDDF-912F-BBF5-6DE0-527DAEF3607D}"/>
              </a:ext>
            </a:extLst>
          </p:cNvPr>
          <p:cNvSpPr>
            <a:spLocks noGrp="1"/>
          </p:cNvSpPr>
          <p:nvPr>
            <p:ph type="body" idx="1"/>
          </p:nvPr>
        </p:nvSpPr>
        <p:spPr>
          <a:xfrm>
            <a:off x="457200" y="1567402"/>
            <a:ext cx="8229600" cy="4525963"/>
          </a:xfrm>
        </p:spPr>
        <p:txBody>
          <a:bodyPr>
            <a:noAutofit/>
          </a:bodyPr>
          <a:lstStyle/>
          <a:p>
            <a:pPr lvl="0"/>
            <a:r>
              <a:rPr lang="en-US" sz="2000" dirty="0">
                <a:latin typeface="Times New Roman" panose="02020603050405020304" pitchFamily="18" charset="0"/>
                <a:cs typeface="Times New Roman" panose="02020603050405020304" pitchFamily="18" charset="0"/>
              </a:rPr>
              <a:t>Most systems validate users only during login.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Token binding solutions lack adoption and flexibility.</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Behavioral continuous authentication introduces overhead and privacy concerns.</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Risk-based authentication is mainly login-centric.</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JWT security research focuses on implementation flaws rather than runtime misuse detection.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Limited middleware solutions for real-time session validation.</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Lack of lightweight, deterministic risk engines for session monitoring.</a:t>
            </a:r>
            <a:endParaRPr lang="en-IN" sz="2000" dirty="0">
              <a:latin typeface="Times New Roman" panose="02020603050405020304" pitchFamily="18" charset="0"/>
              <a:cs typeface="Times New Roman" panose="02020603050405020304" pitchFamily="18" charset="0"/>
            </a:endParaRPr>
          </a:p>
          <a:p>
            <a:pPr lvl="0"/>
            <a:r>
              <a:rPr lang="en-US" sz="2000" dirty="0">
                <a:latin typeface="Times New Roman" panose="02020603050405020304" pitchFamily="18" charset="0"/>
                <a:cs typeface="Times New Roman" panose="02020603050405020304" pitchFamily="18" charset="0"/>
              </a:rPr>
              <a:t>Absence of modular frameworks that combine stateless authentication with stateful monitoring.</a:t>
            </a:r>
            <a:endParaRPr lang="en-IN" sz="2000" dirty="0">
              <a:latin typeface="Times New Roman" panose="02020603050405020304" pitchFamily="18" charset="0"/>
              <a:cs typeface="Times New Roman" panose="02020603050405020304" pitchFamily="18" charset="0"/>
            </a:endParaRPr>
          </a:p>
          <a:p>
            <a:pPr algn="just"/>
            <a:endParaRPr lang="en-IN" sz="2400" dirty="0">
              <a:latin typeface="Times New Roman" panose="02020603050405020304" pitchFamily="18" charset="0"/>
              <a:cs typeface="Times New Roman" panose="02020603050405020304" pitchFamily="18" charset="0"/>
            </a:endParaRPr>
          </a:p>
        </p:txBody>
      </p:sp>
      <p:pic>
        <p:nvPicPr>
          <p:cNvPr id="2" name="Google Shape;90;p1">
            <a:extLst>
              <a:ext uri="{FF2B5EF4-FFF2-40B4-BE49-F238E27FC236}">
                <a16:creationId xmlns:a16="http://schemas.microsoft.com/office/drawing/2014/main" id="{5C8B12CB-0734-68D6-1179-663F46C1ECBD}"/>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31033798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D888E74B-704E-EA28-91F1-1C3937BCEA6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5088CDCC-FE23-7A0E-00E8-2818AA37B562}"/>
              </a:ext>
            </a:extLst>
          </p:cNvPr>
          <p:cNvSpPr txBox="1">
            <a:spLocks noGrp="1"/>
          </p:cNvSpPr>
          <p:nvPr>
            <p:ph type="title"/>
          </p:nvPr>
        </p:nvSpPr>
        <p:spPr>
          <a:xfrm>
            <a:off x="457200" y="381155"/>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US" dirty="0"/>
              <a:t>      Problem Statement</a:t>
            </a:r>
            <a:br>
              <a:rPr lang="en-IN" dirty="0"/>
            </a:br>
            <a:endParaRPr dirty="0"/>
          </a:p>
        </p:txBody>
      </p:sp>
      <p:sp>
        <p:nvSpPr>
          <p:cNvPr id="101" name="Google Shape;101;p2">
            <a:extLst>
              <a:ext uri="{FF2B5EF4-FFF2-40B4-BE49-F238E27FC236}">
                <a16:creationId xmlns:a16="http://schemas.microsoft.com/office/drawing/2014/main" id="{A171CD5E-A9D4-0E4F-5385-E9B58F24B090}"/>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7</a:t>
            </a:fld>
            <a:endParaRPr/>
          </a:p>
        </p:txBody>
      </p:sp>
      <p:sp>
        <p:nvSpPr>
          <p:cNvPr id="4" name="Rectangle 2">
            <a:extLst>
              <a:ext uri="{FF2B5EF4-FFF2-40B4-BE49-F238E27FC236}">
                <a16:creationId xmlns:a16="http://schemas.microsoft.com/office/drawing/2014/main" id="{084DE808-F1E0-A5C3-A3AA-7BD20FA95ED8}"/>
              </a:ext>
            </a:extLst>
          </p:cNvPr>
          <p:cNvSpPr>
            <a:spLocks noGrp="1" noChangeArrowheads="1"/>
          </p:cNvSpPr>
          <p:nvPr>
            <p:ph type="body" idx="1"/>
          </p:nvPr>
        </p:nvSpPr>
        <p:spPr bwMode="auto">
          <a:xfrm>
            <a:off x="457200" y="1670185"/>
            <a:ext cx="857478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285750" indent="-28575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Web applications trust session tokens completely after login</a:t>
            </a:r>
          </a:p>
          <a:p>
            <a:pPr marL="285750" indent="-285750" eaLnBrk="0" fontAlgn="base" hangingPunct="0">
              <a:spcBef>
                <a:spcPct val="0"/>
              </a:spcBef>
              <a:spcAft>
                <a:spcPct val="0"/>
              </a:spcAft>
              <a:buClrTx/>
              <a:buSzTx/>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285750" indent="-28575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token is stolen:</a:t>
            </a:r>
          </a:p>
          <a:p>
            <a:pPr marL="0" indent="0" eaLnBrk="0" fontAlgn="base" hangingPunct="0">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-Attacker gains full access</a:t>
            </a:r>
          </a:p>
          <a:p>
            <a:pPr marL="0" indent="0" eaLnBrk="0" fontAlgn="base" hangingPunct="0">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-No re-verification required</a:t>
            </a:r>
          </a:p>
          <a:p>
            <a:pPr marL="285750" indent="-28575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Leads to:</a:t>
            </a:r>
          </a:p>
          <a:p>
            <a:pPr marL="0" indent="0" eaLnBrk="0" fontAlgn="base" hangingPunct="0">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-Account takeover</a:t>
            </a:r>
          </a:p>
          <a:p>
            <a:pPr marL="0" indent="0" eaLnBrk="0" fontAlgn="base" hangingPunct="0">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 breaches</a:t>
            </a:r>
          </a:p>
          <a:p>
            <a:pPr marL="0" indent="0" eaLnBrk="0" fontAlgn="base" hangingPunct="0">
              <a:spcBef>
                <a:spcPct val="0"/>
              </a:spcBef>
              <a:spcAft>
                <a:spcPct val="0"/>
              </a:spcAft>
              <a:buClrTx/>
              <a:buSzTx/>
              <a:buNone/>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-Unauthorized access</a:t>
            </a:r>
          </a:p>
          <a:p>
            <a:pPr marL="285750" indent="-285750" eaLnBrk="0" fontAlgn="base" hangingPunct="0">
              <a:spcBef>
                <a:spcPct val="0"/>
              </a:spcBef>
              <a:spcAft>
                <a:spcPct val="0"/>
              </a:spcAft>
              <a:buClrTx/>
              <a:buSzTx/>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Need a system that validates session authenticity on every request</a:t>
            </a:r>
          </a:p>
        </p:txBody>
      </p:sp>
      <p:pic>
        <p:nvPicPr>
          <p:cNvPr id="2" name="Google Shape;90;p1">
            <a:extLst>
              <a:ext uri="{FF2B5EF4-FFF2-40B4-BE49-F238E27FC236}">
                <a16:creationId xmlns:a16="http://schemas.microsoft.com/office/drawing/2014/main" id="{2851FEB4-E116-FC8F-4D19-1C07B5A0D0F8}"/>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280519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0D939763-8125-3C43-00C9-F73752812DFD}"/>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E7A11883-BA2F-44B5-0D5E-9AF1E3EAB1D8}"/>
              </a:ext>
            </a:extLst>
          </p:cNvPr>
          <p:cNvSpPr txBox="1">
            <a:spLocks noGrp="1"/>
          </p:cNvSpPr>
          <p:nvPr>
            <p:ph type="title"/>
          </p:nvPr>
        </p:nvSpPr>
        <p:spPr>
          <a:xfrm>
            <a:off x="457200" y="342519"/>
            <a:ext cx="8229600" cy="1143000"/>
          </a:xfrm>
          <a:prstGeom prst="rect">
            <a:avLst/>
          </a:prstGeom>
          <a:noFill/>
          <a:ln>
            <a:noFill/>
          </a:ln>
        </p:spPr>
        <p:txBody>
          <a:bodyPr spcFirstLastPara="1" wrap="square" lIns="91425" tIns="45700" rIns="91425" bIns="45700" anchor="ctr" anchorCtr="0">
            <a:normAutofit fontScale="90000"/>
          </a:bodyPr>
          <a:lstStyle/>
          <a:p>
            <a:pPr>
              <a:buSzPts val="4400"/>
            </a:pPr>
            <a:r>
              <a:rPr lang="en-US" dirty="0"/>
              <a:t>      Scope of the project</a:t>
            </a:r>
            <a:br>
              <a:rPr lang="en-IN" dirty="0"/>
            </a:br>
            <a:endParaRPr dirty="0"/>
          </a:p>
        </p:txBody>
      </p:sp>
      <p:sp>
        <p:nvSpPr>
          <p:cNvPr id="101" name="Google Shape;101;p2">
            <a:extLst>
              <a:ext uri="{FF2B5EF4-FFF2-40B4-BE49-F238E27FC236}">
                <a16:creationId xmlns:a16="http://schemas.microsoft.com/office/drawing/2014/main" id="{4517E314-B49B-8199-126F-DF92040C53CD}"/>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8</a:t>
            </a:fld>
            <a:endParaRPr/>
          </a:p>
        </p:txBody>
      </p:sp>
      <p:sp>
        <p:nvSpPr>
          <p:cNvPr id="2" name="Text Placeholder 1">
            <a:extLst>
              <a:ext uri="{FF2B5EF4-FFF2-40B4-BE49-F238E27FC236}">
                <a16:creationId xmlns:a16="http://schemas.microsoft.com/office/drawing/2014/main" id="{A4671306-2458-79DA-0782-819EDC5EC118}"/>
              </a:ext>
            </a:extLst>
          </p:cNvPr>
          <p:cNvSpPr>
            <a:spLocks noGrp="1" noChangeArrowheads="1"/>
          </p:cNvSpPr>
          <p:nvPr>
            <p:ph type="body" idx="1"/>
          </p:nvPr>
        </p:nvSpPr>
        <p:spPr bwMode="auto">
          <a:xfrm>
            <a:off x="457200" y="1601024"/>
            <a:ext cx="6984604" cy="45243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 middleware-based security layer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Compatible with:</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-JWT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-Cookie-based sessions </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Bind session tokens to:</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-IP range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-User-Agent</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-Device fingerprint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Perform rule-based risk scoring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Deployable without redesigning authentication system</a:t>
            </a:r>
          </a:p>
        </p:txBody>
      </p:sp>
      <p:pic>
        <p:nvPicPr>
          <p:cNvPr id="3" name="Google Shape;90;p1">
            <a:extLst>
              <a:ext uri="{FF2B5EF4-FFF2-40B4-BE49-F238E27FC236}">
                <a16:creationId xmlns:a16="http://schemas.microsoft.com/office/drawing/2014/main" id="{83F076AB-5111-93F3-2131-E42C26BEE1B4}"/>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615956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B31CA1C-6254-9E3A-8A11-FBEC9E1B651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01786E31-B0B1-6924-66F5-71127ABB31E2}"/>
              </a:ext>
            </a:extLst>
          </p:cNvPr>
          <p:cNvSpPr txBox="1">
            <a:spLocks noGrp="1"/>
          </p:cNvSpPr>
          <p:nvPr>
            <p:ph type="title"/>
          </p:nvPr>
        </p:nvSpPr>
        <p:spPr>
          <a:xfrm>
            <a:off x="1357313" y="279658"/>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Importance of the project</a:t>
            </a:r>
            <a:endParaRPr sz="4000" dirty="0"/>
          </a:p>
        </p:txBody>
      </p:sp>
      <p:sp>
        <p:nvSpPr>
          <p:cNvPr id="101" name="Google Shape;101;p2">
            <a:extLst>
              <a:ext uri="{FF2B5EF4-FFF2-40B4-BE49-F238E27FC236}">
                <a16:creationId xmlns:a16="http://schemas.microsoft.com/office/drawing/2014/main" id="{40E93DEC-8D6C-4264-AE65-48C7E8E1074F}"/>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9</a:t>
            </a:fld>
            <a:endParaRPr/>
          </a:p>
        </p:txBody>
      </p:sp>
      <p:sp>
        <p:nvSpPr>
          <p:cNvPr id="2" name="Text Placeholder 1">
            <a:extLst>
              <a:ext uri="{FF2B5EF4-FFF2-40B4-BE49-F238E27FC236}">
                <a16:creationId xmlns:a16="http://schemas.microsoft.com/office/drawing/2014/main" id="{40EEB1D8-E6F5-CF01-5853-8B5E57352D5D}"/>
              </a:ext>
            </a:extLst>
          </p:cNvPr>
          <p:cNvSpPr>
            <a:spLocks noGrp="1" noChangeArrowheads="1"/>
          </p:cNvSpPr>
          <p:nvPr>
            <p:ph type="body" idx="1"/>
          </p:nvPr>
        </p:nvSpPr>
        <p:spPr bwMode="auto">
          <a:xfrm>
            <a:off x="781811" y="1905506"/>
            <a:ext cx="8333740"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Reduces session-based attack surface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Protects sensitive domains: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-Banking</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-Healthcare</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-E-commerce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Enhances user trust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Prevents financial and reputational damage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Strengthens digital infrastructure security </a:t>
            </a:r>
          </a:p>
        </p:txBody>
      </p:sp>
      <p:pic>
        <p:nvPicPr>
          <p:cNvPr id="3" name="Google Shape;90;p1">
            <a:extLst>
              <a:ext uri="{FF2B5EF4-FFF2-40B4-BE49-F238E27FC236}">
                <a16:creationId xmlns:a16="http://schemas.microsoft.com/office/drawing/2014/main" id="{52A40ADF-C77A-39D6-CE70-A699DD52AB7D}"/>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481902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6D967BBD-82A1-7280-A5CE-ABF263788B0F}"/>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006B0AD4-6B42-678E-2F36-CDB0B410FBB8}"/>
              </a:ext>
            </a:extLst>
          </p:cNvPr>
          <p:cNvSpPr txBox="1">
            <a:spLocks noGrp="1"/>
          </p:cNvSpPr>
          <p:nvPr>
            <p:ph type="title"/>
          </p:nvPr>
        </p:nvSpPr>
        <p:spPr>
          <a:xfrm>
            <a:off x="968707" y="174335"/>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Innovation Idea</a:t>
            </a:r>
            <a:endParaRPr sz="4000" dirty="0"/>
          </a:p>
        </p:txBody>
      </p:sp>
      <p:sp>
        <p:nvSpPr>
          <p:cNvPr id="101" name="Google Shape;101;p2">
            <a:extLst>
              <a:ext uri="{FF2B5EF4-FFF2-40B4-BE49-F238E27FC236}">
                <a16:creationId xmlns:a16="http://schemas.microsoft.com/office/drawing/2014/main" id="{5B3AE4B8-40ED-2C36-5B61-B651D15D7ADB}"/>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10</a:t>
            </a:fld>
            <a:endParaRPr/>
          </a:p>
        </p:txBody>
      </p:sp>
      <p:sp>
        <p:nvSpPr>
          <p:cNvPr id="6" name="Rectangle 4">
            <a:extLst>
              <a:ext uri="{FF2B5EF4-FFF2-40B4-BE49-F238E27FC236}">
                <a16:creationId xmlns:a16="http://schemas.microsoft.com/office/drawing/2014/main" id="{F601A026-3DEA-D794-8E16-DD5E6A6594D0}"/>
              </a:ext>
            </a:extLst>
          </p:cNvPr>
          <p:cNvSpPr>
            <a:spLocks noGrp="1" noChangeArrowheads="1"/>
          </p:cNvSpPr>
          <p:nvPr>
            <p:ph type="body" idx="1"/>
          </p:nvPr>
        </p:nvSpPr>
        <p:spPr bwMode="auto">
          <a:xfrm>
            <a:off x="457200" y="1082032"/>
            <a:ext cx="8352503" cy="56117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800" b="1" dirty="0"/>
              <a:t>Concept Overview</a:t>
            </a:r>
          </a:p>
          <a:p>
            <a:r>
              <a:rPr lang="en-US" sz="1800" dirty="0"/>
              <a:t>Middleware-based security layer for continuous session validation</a:t>
            </a:r>
          </a:p>
          <a:p>
            <a:r>
              <a:rPr lang="en-US" sz="1800" dirty="0"/>
              <a:t>Binds session tokens to IP, device fingerprint, and behavior</a:t>
            </a:r>
          </a:p>
          <a:p>
            <a:r>
              <a:rPr lang="en-US" sz="1800" dirty="0"/>
              <a:t>Prevents hijacking, replay, and token misuse in real time</a:t>
            </a:r>
            <a:br>
              <a:rPr lang="en-US" sz="1800" dirty="0"/>
            </a:br>
            <a:endParaRPr lang="en-US" sz="1800" dirty="0"/>
          </a:p>
          <a:p>
            <a:pPr marL="114300" indent="0">
              <a:buNone/>
            </a:pPr>
            <a:r>
              <a:rPr lang="en-US" sz="1800" b="1" dirty="0"/>
              <a:t>How it works</a:t>
            </a:r>
          </a:p>
          <a:p>
            <a:r>
              <a:rPr lang="en-US" sz="1800" dirty="0"/>
              <a:t>Intercepts every protected request before backend access</a:t>
            </a:r>
          </a:p>
          <a:p>
            <a:r>
              <a:rPr lang="en-US" sz="1800" dirty="0"/>
              <a:t>Validates contextual attributes and detects anomalies</a:t>
            </a:r>
          </a:p>
          <a:p>
            <a:r>
              <a:rPr lang="en-US" sz="1800" dirty="0"/>
              <a:t>Applies risk-based actions: allow, step-up auth, terminate, or block</a:t>
            </a:r>
          </a:p>
          <a:p>
            <a:r>
              <a:rPr lang="en-US" sz="1800" dirty="0"/>
              <a:t>Logs all session events for monitoring and analysis</a:t>
            </a:r>
            <a:br>
              <a:rPr lang="en-US" sz="1800" dirty="0"/>
            </a:br>
            <a:endParaRPr lang="en-US" sz="1800" dirty="0"/>
          </a:p>
          <a:p>
            <a:r>
              <a:rPr lang="en-US" sz="1800" b="1" dirty="0"/>
              <a:t>Why it’s new</a:t>
            </a:r>
          </a:p>
          <a:p>
            <a:r>
              <a:rPr lang="en-US" sz="1800" dirty="0"/>
              <a:t>Moves from login-only trust → continuous session trust</a:t>
            </a:r>
          </a:p>
          <a:p>
            <a:r>
              <a:rPr lang="en-US" sz="1800" dirty="0"/>
              <a:t>Lightweight middleware compatible with existing authentication</a:t>
            </a:r>
          </a:p>
          <a:p>
            <a:r>
              <a:rPr lang="en-US" sz="1800" dirty="0"/>
              <a:t>Combines contextual binding, risk scoring, and real-time enforcement</a:t>
            </a:r>
          </a:p>
          <a:p>
            <a:r>
              <a:rPr lang="en-US" sz="1800" dirty="0"/>
              <a:t>Modular design enabling future AI-based anomaly detection</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Google Shape;90;p1">
            <a:extLst>
              <a:ext uri="{FF2B5EF4-FFF2-40B4-BE49-F238E27FC236}">
                <a16:creationId xmlns:a16="http://schemas.microsoft.com/office/drawing/2014/main" id="{7AE2C0DB-F882-4896-1326-23D00AA39919}"/>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34268081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79780A5-6AF1-A5EE-0D5A-6915486D1958}"/>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B856314B-3B19-3E97-0CAE-E10E4CA3F856}"/>
              </a:ext>
            </a:extLst>
          </p:cNvPr>
          <p:cNvSpPr txBox="1">
            <a:spLocks noGrp="1"/>
          </p:cNvSpPr>
          <p:nvPr>
            <p:ph type="title"/>
          </p:nvPr>
        </p:nvSpPr>
        <p:spPr>
          <a:xfrm>
            <a:off x="1108922" y="279658"/>
            <a:ext cx="7329487" cy="807394"/>
          </a:xfrm>
          <a:prstGeom prst="rect">
            <a:avLst/>
          </a:prstGeom>
          <a:noFill/>
          <a:ln>
            <a:noFill/>
          </a:ln>
        </p:spPr>
        <p:txBody>
          <a:bodyPr spcFirstLastPara="1" wrap="square" lIns="91425" tIns="45700" rIns="91425" bIns="45700" anchor="ctr" anchorCtr="0">
            <a:normAutofit/>
          </a:bodyPr>
          <a:lstStyle/>
          <a:p>
            <a:pPr>
              <a:buSzPts val="4400"/>
            </a:pPr>
            <a:r>
              <a:rPr lang="en-US" sz="4000" dirty="0"/>
              <a:t>Techniques and Features</a:t>
            </a:r>
            <a:endParaRPr sz="4000" dirty="0"/>
          </a:p>
        </p:txBody>
      </p:sp>
      <p:sp>
        <p:nvSpPr>
          <p:cNvPr id="101" name="Google Shape;101;p2">
            <a:extLst>
              <a:ext uri="{FF2B5EF4-FFF2-40B4-BE49-F238E27FC236}">
                <a16:creationId xmlns:a16="http://schemas.microsoft.com/office/drawing/2014/main" id="{3506AD3E-B924-4D38-F5AD-2F5482BFB7B7}"/>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11</a:t>
            </a:fld>
            <a:endParaRPr/>
          </a:p>
        </p:txBody>
      </p:sp>
      <p:pic>
        <p:nvPicPr>
          <p:cNvPr id="3" name="Google Shape;90;p1">
            <a:extLst>
              <a:ext uri="{FF2B5EF4-FFF2-40B4-BE49-F238E27FC236}">
                <a16:creationId xmlns:a16="http://schemas.microsoft.com/office/drawing/2014/main" id="{49771F6E-4F87-0FB6-80D5-2DDA2A12EC5A}"/>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graphicFrame>
        <p:nvGraphicFramePr>
          <p:cNvPr id="4" name="Table 3">
            <a:extLst>
              <a:ext uri="{FF2B5EF4-FFF2-40B4-BE49-F238E27FC236}">
                <a16:creationId xmlns:a16="http://schemas.microsoft.com/office/drawing/2014/main" id="{9355F6E4-177F-D7F0-616F-25030021DD5B}"/>
              </a:ext>
            </a:extLst>
          </p:cNvPr>
          <p:cNvGraphicFramePr>
            <a:graphicFrameLocks noGrp="1"/>
          </p:cNvGraphicFramePr>
          <p:nvPr>
            <p:extLst>
              <p:ext uri="{D42A27DB-BD31-4B8C-83A1-F6EECF244321}">
                <p14:modId xmlns:p14="http://schemas.microsoft.com/office/powerpoint/2010/main" val="3204796452"/>
              </p:ext>
            </p:extLst>
          </p:nvPr>
        </p:nvGraphicFramePr>
        <p:xfrm>
          <a:off x="457200" y="1645920"/>
          <a:ext cx="8229600" cy="4013200"/>
        </p:xfrm>
        <a:graphic>
          <a:graphicData uri="http://schemas.openxmlformats.org/drawingml/2006/table">
            <a:tbl>
              <a:tblPr firstRow="1" firstCol="1" bandRow="1">
                <a:tableStyleId>{5940675A-B579-460E-94D1-54222C63F5DA}</a:tableStyleId>
              </a:tblPr>
              <a:tblGrid>
                <a:gridCol w="4114800">
                  <a:extLst>
                    <a:ext uri="{9D8B030D-6E8A-4147-A177-3AD203B41FA5}">
                      <a16:colId xmlns:a16="http://schemas.microsoft.com/office/drawing/2014/main" val="106885062"/>
                    </a:ext>
                  </a:extLst>
                </a:gridCol>
                <a:gridCol w="4114800">
                  <a:extLst>
                    <a:ext uri="{9D8B030D-6E8A-4147-A177-3AD203B41FA5}">
                      <a16:colId xmlns:a16="http://schemas.microsoft.com/office/drawing/2014/main" val="2400768003"/>
                    </a:ext>
                  </a:extLst>
                </a:gridCol>
              </a:tblGrid>
              <a:tr h="501650">
                <a:tc>
                  <a:txBody>
                    <a:bodyPr/>
                    <a:lstStyle/>
                    <a:p>
                      <a:pPr marL="0" marR="0">
                        <a:lnSpc>
                          <a:spcPct val="115000"/>
                        </a:lnSpc>
                        <a:spcAft>
                          <a:spcPts val="800"/>
                        </a:spcAft>
                        <a:buNone/>
                      </a:pPr>
                      <a:r>
                        <a:rPr lang="en-US" sz="1600" b="1" kern="100">
                          <a:effectLst/>
                        </a:rPr>
                        <a:t>Objective</a:t>
                      </a:r>
                      <a:endParaRPr lang="en-US" sz="1600" b="1"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tc>
                  <a:txBody>
                    <a:bodyPr/>
                    <a:lstStyle/>
                    <a:p>
                      <a:pPr marL="0" marR="0">
                        <a:lnSpc>
                          <a:spcPct val="115000"/>
                        </a:lnSpc>
                        <a:spcAft>
                          <a:spcPts val="800"/>
                        </a:spcAft>
                        <a:buNone/>
                      </a:pPr>
                      <a:r>
                        <a:rPr lang="en-US" sz="1600" b="1" kern="100" dirty="0">
                          <a:effectLst/>
                        </a:rPr>
                        <a:t>Technique</a:t>
                      </a:r>
                      <a:endParaRPr lang="en-US" sz="1600" b="1"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solidFill>
                      <a:schemeClr val="bg1">
                        <a:lumMod val="85000"/>
                      </a:schemeClr>
                    </a:solidFill>
                  </a:tcPr>
                </a:tc>
                <a:extLst>
                  <a:ext uri="{0D108BD9-81ED-4DB2-BD59-A6C34878D82A}">
                    <a16:rowId xmlns:a16="http://schemas.microsoft.com/office/drawing/2014/main" val="2944701011"/>
                  </a:ext>
                </a:extLst>
              </a:tr>
              <a:tr h="501650">
                <a:tc>
                  <a:txBody>
                    <a:bodyPr/>
                    <a:lstStyle/>
                    <a:p>
                      <a:pPr marL="0" marR="0">
                        <a:lnSpc>
                          <a:spcPct val="115000"/>
                        </a:lnSpc>
                        <a:spcAft>
                          <a:spcPts val="800"/>
                        </a:spcAft>
                        <a:buNone/>
                      </a:pPr>
                      <a:r>
                        <a:rPr lang="en-US" sz="1400" kern="100">
                          <a:effectLst/>
                        </a:rPr>
                        <a:t>Continuous validation</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Middleware request interceptor</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380388098"/>
                  </a:ext>
                </a:extLst>
              </a:tr>
              <a:tr h="501650">
                <a:tc>
                  <a:txBody>
                    <a:bodyPr/>
                    <a:lstStyle/>
                    <a:p>
                      <a:pPr marL="0" marR="0">
                        <a:lnSpc>
                          <a:spcPct val="115000"/>
                        </a:lnSpc>
                        <a:spcAft>
                          <a:spcPts val="800"/>
                        </a:spcAft>
                        <a:buNone/>
                      </a:pPr>
                      <a:r>
                        <a:rPr lang="en-US" sz="1400" kern="100">
                          <a:effectLst/>
                        </a:rPr>
                        <a:t>Context binding</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Session fingerprinting (IP + UA + device hash)</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07354351"/>
                  </a:ext>
                </a:extLst>
              </a:tr>
              <a:tr h="501650">
                <a:tc>
                  <a:txBody>
                    <a:bodyPr/>
                    <a:lstStyle/>
                    <a:p>
                      <a:pPr marL="0" marR="0">
                        <a:lnSpc>
                          <a:spcPct val="115000"/>
                        </a:lnSpc>
                        <a:spcAft>
                          <a:spcPts val="800"/>
                        </a:spcAft>
                        <a:buNone/>
                      </a:pPr>
                      <a:r>
                        <a:rPr lang="en-US" sz="1400" kern="100">
                          <a:effectLst/>
                        </a:rPr>
                        <a:t>Risk scoring</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Deterministic rule-based engine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80480983"/>
                  </a:ext>
                </a:extLst>
              </a:tr>
              <a:tr h="501650">
                <a:tc>
                  <a:txBody>
                    <a:bodyPr/>
                    <a:lstStyle/>
                    <a:p>
                      <a:pPr marL="0" marR="0">
                        <a:lnSpc>
                          <a:spcPct val="115000"/>
                        </a:lnSpc>
                        <a:spcAft>
                          <a:spcPts val="800"/>
                        </a:spcAft>
                        <a:buNone/>
                      </a:pPr>
                      <a:r>
                        <a:rPr lang="en-US" sz="1400" kern="100">
                          <a:effectLst/>
                        </a:rPr>
                        <a:t>Decision logic</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Policy-based decision engine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788541422"/>
                  </a:ext>
                </a:extLst>
              </a:tr>
              <a:tr h="501650">
                <a:tc>
                  <a:txBody>
                    <a:bodyPr/>
                    <a:lstStyle/>
                    <a:p>
                      <a:pPr marL="0" marR="0">
                        <a:lnSpc>
                          <a:spcPct val="115000"/>
                        </a:lnSpc>
                        <a:spcAft>
                          <a:spcPts val="800"/>
                        </a:spcAft>
                        <a:buNone/>
                      </a:pPr>
                      <a:r>
                        <a:rPr lang="en-US" sz="1400" kern="100">
                          <a:effectLst/>
                        </a:rPr>
                        <a:t>Enforcement</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Session invalidation + access control rules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25443527"/>
                  </a:ext>
                </a:extLst>
              </a:tr>
              <a:tr h="501650">
                <a:tc>
                  <a:txBody>
                    <a:bodyPr/>
                    <a:lstStyle/>
                    <a:p>
                      <a:pPr marL="0" marR="0">
                        <a:lnSpc>
                          <a:spcPct val="115000"/>
                        </a:lnSpc>
                        <a:spcAft>
                          <a:spcPts val="800"/>
                        </a:spcAft>
                        <a:buNone/>
                      </a:pPr>
                      <a:r>
                        <a:rPr lang="en-US" sz="1400" kern="100">
                          <a:effectLst/>
                        </a:rPr>
                        <a:t>Logging</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a:effectLst/>
                        </a:rPr>
                        <a:t>Security event logging + audit database</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432729398"/>
                  </a:ext>
                </a:extLst>
              </a:tr>
              <a:tr h="501650">
                <a:tc>
                  <a:txBody>
                    <a:bodyPr/>
                    <a:lstStyle/>
                    <a:p>
                      <a:pPr marL="0" marR="0">
                        <a:lnSpc>
                          <a:spcPct val="115000"/>
                        </a:lnSpc>
                        <a:spcAft>
                          <a:spcPts val="800"/>
                        </a:spcAft>
                        <a:buNone/>
                      </a:pPr>
                      <a:r>
                        <a:rPr lang="en-US" sz="1400" kern="100">
                          <a:effectLst/>
                        </a:rPr>
                        <a:t>AI readiness</a:t>
                      </a:r>
                      <a:endParaRPr lang="en-US" sz="14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15000"/>
                        </a:lnSpc>
                        <a:spcAft>
                          <a:spcPts val="800"/>
                        </a:spcAft>
                        <a:buNone/>
                      </a:pPr>
                      <a:r>
                        <a:rPr lang="en-US" sz="1400" kern="100" dirty="0">
                          <a:effectLst/>
                        </a:rPr>
                        <a:t>Modular microservice-friendly design</a:t>
                      </a:r>
                      <a:endParaRPr lang="en-US" sz="1400" kern="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354220589"/>
                  </a:ext>
                </a:extLst>
              </a:tr>
            </a:tbl>
          </a:graphicData>
        </a:graphic>
      </p:graphicFrame>
    </p:spTree>
    <p:extLst>
      <p:ext uri="{BB962C8B-B14F-4D97-AF65-F5344CB8AC3E}">
        <p14:creationId xmlns:p14="http://schemas.microsoft.com/office/powerpoint/2010/main" val="27724159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DE97-177E-4F6E-BCBC-4319FC8DD2B0}"/>
              </a:ext>
            </a:extLst>
          </p:cNvPr>
          <p:cNvSpPr>
            <a:spLocks noGrp="1"/>
          </p:cNvSpPr>
          <p:nvPr>
            <p:ph type="title"/>
          </p:nvPr>
        </p:nvSpPr>
        <p:spPr>
          <a:xfrm>
            <a:off x="1405128" y="274638"/>
            <a:ext cx="7205472" cy="674282"/>
          </a:xfrm>
        </p:spPr>
        <p:txBody>
          <a:bodyPr>
            <a:normAutofit fontScale="90000"/>
          </a:bodyPr>
          <a:lstStyle/>
          <a:p>
            <a:r>
              <a:rPr lang="en-US" sz="4000" dirty="0"/>
              <a:t>Architecture/ Block Diagram</a:t>
            </a:r>
            <a:endParaRPr lang="en-IN" sz="4000" dirty="0"/>
          </a:p>
        </p:txBody>
      </p:sp>
      <p:sp>
        <p:nvSpPr>
          <p:cNvPr id="6" name="Slide Number Placeholder 5">
            <a:extLst>
              <a:ext uri="{FF2B5EF4-FFF2-40B4-BE49-F238E27FC236}">
                <a16:creationId xmlns:a16="http://schemas.microsoft.com/office/drawing/2014/main" id="{1C56F9C1-D028-491E-B082-CCD0A0114DB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pPr marL="0" lvl="0" indent="0" algn="r" rtl="0">
                <a:spcBef>
                  <a:spcPts val="0"/>
                </a:spcBef>
                <a:spcAft>
                  <a:spcPts val="0"/>
                </a:spcAft>
                <a:buNone/>
              </a:pPr>
              <a:t>12</a:t>
            </a:fld>
            <a:endParaRPr lang="en-US"/>
          </a:p>
        </p:txBody>
      </p:sp>
      <p:pic>
        <p:nvPicPr>
          <p:cNvPr id="3" name="Picture 2">
            <a:extLst>
              <a:ext uri="{FF2B5EF4-FFF2-40B4-BE49-F238E27FC236}">
                <a16:creationId xmlns:a16="http://schemas.microsoft.com/office/drawing/2014/main" id="{70D3C924-28E1-9F5C-8C96-7BEB406FEFF8}"/>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20140" y="1089257"/>
            <a:ext cx="6903719" cy="5449655"/>
          </a:xfrm>
          <a:prstGeom prst="rect">
            <a:avLst/>
          </a:prstGeom>
          <a:noFill/>
          <a:ln>
            <a:noFill/>
          </a:ln>
        </p:spPr>
      </p:pic>
      <p:pic>
        <p:nvPicPr>
          <p:cNvPr id="4" name="Google Shape;90;p1">
            <a:extLst>
              <a:ext uri="{FF2B5EF4-FFF2-40B4-BE49-F238E27FC236}">
                <a16:creationId xmlns:a16="http://schemas.microsoft.com/office/drawing/2014/main" id="{A2437C19-8F56-6B93-A28C-4FF457DEB315}"/>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26480976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8EFBC19A-A48F-E395-569A-664245EB9C14}"/>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C04EA1F2-C88E-7D87-108F-327CF976FE15}"/>
              </a:ext>
            </a:extLst>
          </p:cNvPr>
          <p:cNvSpPr txBox="1">
            <a:spLocks noGrp="1"/>
          </p:cNvSpPr>
          <p:nvPr>
            <p:ph type="title"/>
          </p:nvPr>
        </p:nvSpPr>
        <p:spPr>
          <a:xfrm>
            <a:off x="1120044" y="300090"/>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SDG Mapping</a:t>
            </a:r>
            <a:endParaRPr sz="4000" dirty="0"/>
          </a:p>
        </p:txBody>
      </p:sp>
      <p:sp>
        <p:nvSpPr>
          <p:cNvPr id="101" name="Google Shape;101;p2">
            <a:extLst>
              <a:ext uri="{FF2B5EF4-FFF2-40B4-BE49-F238E27FC236}">
                <a16:creationId xmlns:a16="http://schemas.microsoft.com/office/drawing/2014/main" id="{9EAD4CA3-B6F5-809E-49FB-1A657F0FB843}"/>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13</a:t>
            </a:fld>
            <a:endParaRPr/>
          </a:p>
        </p:txBody>
      </p:sp>
      <p:sp>
        <p:nvSpPr>
          <p:cNvPr id="4" name="Rectangle 2">
            <a:extLst>
              <a:ext uri="{FF2B5EF4-FFF2-40B4-BE49-F238E27FC236}">
                <a16:creationId xmlns:a16="http://schemas.microsoft.com/office/drawing/2014/main" id="{2564E558-A980-DFA7-4251-C9640665BA4A}"/>
              </a:ext>
            </a:extLst>
          </p:cNvPr>
          <p:cNvSpPr>
            <a:spLocks noGrp="1" noChangeArrowheads="1"/>
          </p:cNvSpPr>
          <p:nvPr>
            <p:ph type="body" idx="1"/>
          </p:nvPr>
        </p:nvSpPr>
        <p:spPr bwMode="auto">
          <a:xfrm>
            <a:off x="404813" y="1464629"/>
            <a:ext cx="8334374" cy="4534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buNone/>
            </a:pPr>
            <a:r>
              <a:rPr lang="en-US" sz="1800" b="1" dirty="0"/>
              <a:t>SDG 9 – Industry, Innovation &amp; Infrastructure</a:t>
            </a:r>
          </a:p>
          <a:p>
            <a:r>
              <a:rPr lang="en-US" sz="1800" dirty="0"/>
              <a:t>Strengthens digital infrastructure security through continuous session protection</a:t>
            </a:r>
          </a:p>
          <a:p>
            <a:r>
              <a:rPr lang="en-US" sz="1800" dirty="0"/>
              <a:t>Encourages innovation in application-layer cybersecurity solutions</a:t>
            </a:r>
          </a:p>
          <a:p>
            <a:pPr marL="114300" indent="0">
              <a:buNone/>
            </a:pPr>
            <a:br>
              <a:rPr lang="en-US" sz="1800" dirty="0"/>
            </a:br>
            <a:endParaRPr lang="en-US" sz="1800" dirty="0"/>
          </a:p>
          <a:p>
            <a:pPr marL="114300" indent="0">
              <a:buNone/>
            </a:pPr>
            <a:r>
              <a:rPr lang="en-US" sz="1800" b="1" dirty="0"/>
              <a:t>SDG 16 – Peace, Justice &amp; Strong Institutions</a:t>
            </a:r>
          </a:p>
          <a:p>
            <a:r>
              <a:rPr lang="en-US" sz="1800" dirty="0"/>
              <a:t>Protects organizational and user data from session-based attacks</a:t>
            </a:r>
          </a:p>
          <a:p>
            <a:r>
              <a:rPr lang="en-US" sz="1800" dirty="0"/>
              <a:t>Prevents unauthorized digital access and account takeover</a:t>
            </a:r>
          </a:p>
          <a:p>
            <a:pPr marL="114300" indent="0">
              <a:buNone/>
            </a:pPr>
            <a:br>
              <a:rPr lang="en-US" sz="1800" dirty="0"/>
            </a:br>
            <a:endParaRPr lang="en-US" sz="1800" dirty="0"/>
          </a:p>
          <a:p>
            <a:pPr marL="114300" indent="0">
              <a:buNone/>
            </a:pPr>
            <a:r>
              <a:rPr lang="en-US" sz="1800" b="1" dirty="0"/>
              <a:t>SDG 8 – Decent Work &amp; Economic Growth</a:t>
            </a:r>
          </a:p>
          <a:p>
            <a:r>
              <a:rPr lang="en-US" sz="1800" dirty="0"/>
              <a:t>Reduces financial losses caused by data breaches and account compromise</a:t>
            </a:r>
          </a:p>
          <a:p>
            <a:r>
              <a:rPr lang="en-US" sz="1800" dirty="0"/>
              <a:t>Supports secure digital business environments and user trust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Google Shape;90;p1">
            <a:extLst>
              <a:ext uri="{FF2B5EF4-FFF2-40B4-BE49-F238E27FC236}">
                <a16:creationId xmlns:a16="http://schemas.microsoft.com/office/drawing/2014/main" id="{5B1F7E0B-D6A1-C701-30E5-833E6AC636B0}"/>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8595281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921C8669-79AB-5009-BBF2-37F64D7C2743}"/>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A2121638-AD0E-6AC8-AF7C-6FF0FFA74D48}"/>
              </a:ext>
            </a:extLst>
          </p:cNvPr>
          <p:cNvSpPr txBox="1">
            <a:spLocks noGrp="1"/>
          </p:cNvSpPr>
          <p:nvPr>
            <p:ph type="title"/>
          </p:nvPr>
        </p:nvSpPr>
        <p:spPr>
          <a:xfrm>
            <a:off x="907256" y="356411"/>
            <a:ext cx="7329487" cy="807394"/>
          </a:xfrm>
          <a:prstGeom prst="rect">
            <a:avLst/>
          </a:prstGeom>
          <a:noFill/>
          <a:ln>
            <a:noFill/>
          </a:ln>
        </p:spPr>
        <p:txBody>
          <a:bodyPr spcFirstLastPara="1" wrap="square" lIns="91425" tIns="45700" rIns="91425" bIns="45700" anchor="ctr" anchorCtr="0">
            <a:normAutofit/>
          </a:bodyPr>
          <a:lstStyle/>
          <a:p>
            <a:pPr>
              <a:buSzPts val="4400"/>
            </a:pPr>
            <a:r>
              <a:rPr lang="en-US" sz="4000" dirty="0"/>
              <a:t>Release plan / Timeline</a:t>
            </a:r>
            <a:endParaRPr sz="4000" dirty="0"/>
          </a:p>
        </p:txBody>
      </p:sp>
      <p:sp>
        <p:nvSpPr>
          <p:cNvPr id="101" name="Google Shape;101;p2">
            <a:extLst>
              <a:ext uri="{FF2B5EF4-FFF2-40B4-BE49-F238E27FC236}">
                <a16:creationId xmlns:a16="http://schemas.microsoft.com/office/drawing/2014/main" id="{ECDDEBF6-2751-DF40-A669-482962269567}"/>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14</a:t>
            </a:fld>
            <a:endParaRPr/>
          </a:p>
        </p:txBody>
      </p:sp>
      <p:pic>
        <p:nvPicPr>
          <p:cNvPr id="6" name="Google Shape;90;p1">
            <a:extLst>
              <a:ext uri="{FF2B5EF4-FFF2-40B4-BE49-F238E27FC236}">
                <a16:creationId xmlns:a16="http://schemas.microsoft.com/office/drawing/2014/main" id="{4E25892C-E12E-689A-17F4-9EBFA8FE236E}"/>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pic>
        <p:nvPicPr>
          <p:cNvPr id="3" name="Picture 2">
            <a:extLst>
              <a:ext uri="{FF2B5EF4-FFF2-40B4-BE49-F238E27FC236}">
                <a16:creationId xmlns:a16="http://schemas.microsoft.com/office/drawing/2014/main" id="{670769A5-ECD7-1C03-1345-8FB5FEBE4C4C}"/>
              </a:ext>
            </a:extLst>
          </p:cNvPr>
          <p:cNvPicPr>
            <a:picLocks noChangeAspect="1"/>
          </p:cNvPicPr>
          <p:nvPr/>
        </p:nvPicPr>
        <p:blipFill>
          <a:blip r:embed="rId4"/>
          <a:stretch>
            <a:fillRect/>
          </a:stretch>
        </p:blipFill>
        <p:spPr>
          <a:xfrm>
            <a:off x="376155" y="1604247"/>
            <a:ext cx="8767845" cy="3955306"/>
          </a:xfrm>
          <a:prstGeom prst="rect">
            <a:avLst/>
          </a:prstGeom>
        </p:spPr>
      </p:pic>
    </p:spTree>
    <p:extLst>
      <p:ext uri="{BB962C8B-B14F-4D97-AF65-F5344CB8AC3E}">
        <p14:creationId xmlns:p14="http://schemas.microsoft.com/office/powerpoint/2010/main" val="396587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2F0EC0D6-3B87-FE5A-722A-763372620B2A}"/>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ADF026E-B2D5-C631-DE7D-C2F1E30CDF89}"/>
              </a:ext>
            </a:extLst>
          </p:cNvPr>
          <p:cNvSpPr txBox="1">
            <a:spLocks noGrp="1"/>
          </p:cNvSpPr>
          <p:nvPr>
            <p:ph type="title"/>
          </p:nvPr>
        </p:nvSpPr>
        <p:spPr>
          <a:xfrm>
            <a:off x="907256" y="397220"/>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Abstract</a:t>
            </a:r>
            <a:endParaRPr sz="4000" dirty="0"/>
          </a:p>
        </p:txBody>
      </p:sp>
      <p:sp>
        <p:nvSpPr>
          <p:cNvPr id="101" name="Google Shape;101;p2">
            <a:extLst>
              <a:ext uri="{FF2B5EF4-FFF2-40B4-BE49-F238E27FC236}">
                <a16:creationId xmlns:a16="http://schemas.microsoft.com/office/drawing/2014/main" id="{71A9CC43-26E9-8F4F-5415-F1C371CBA894}"/>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15</a:t>
            </a:fld>
            <a:endParaRPr/>
          </a:p>
        </p:txBody>
      </p:sp>
      <p:sp>
        <p:nvSpPr>
          <p:cNvPr id="5" name="Rectangle 3">
            <a:extLst>
              <a:ext uri="{FF2B5EF4-FFF2-40B4-BE49-F238E27FC236}">
                <a16:creationId xmlns:a16="http://schemas.microsoft.com/office/drawing/2014/main" id="{36559A8A-0270-6CC7-FA89-D1EE797A400D}"/>
              </a:ext>
            </a:extLst>
          </p:cNvPr>
          <p:cNvSpPr>
            <a:spLocks noGrp="1" noChangeArrowheads="1"/>
          </p:cNvSpPr>
          <p:nvPr>
            <p:ph type="body" idx="1"/>
          </p:nvPr>
        </p:nvSpPr>
        <p:spPr bwMode="auto">
          <a:xfrm rot="10800000" flipV="1">
            <a:off x="735807" y="1631175"/>
            <a:ext cx="7950993" cy="42986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114300" indent="0">
              <a:lnSpc>
                <a:spcPct val="150000"/>
              </a:lnSpc>
              <a:buNone/>
            </a:pPr>
            <a:r>
              <a:rPr lang="en-US" sz="1800" dirty="0"/>
              <a:t>Modern web applications typically rely on single-point authentication, where users are trusted after login through tokens like JWTs or cookies. This model creates security risks when tokens are stolen or misused, enabling attacks such as session hijacking and replay. The proposed Session Integrity Firewall (SIF) introduces continuous session validation by binding tokens to contextual attributes like IP address, User-Agent, and device fingerprint while analyzing behavior through a rule-based risk engine. Based on calculated risk, the system enforces actions such as step-up authentication, session termination, or IP blocking. With a modular and AI-ready design, SIF strengthens session security without requiring changes to existing authentication frameworks.</a:t>
            </a:r>
          </a:p>
        </p:txBody>
      </p:sp>
      <p:pic>
        <p:nvPicPr>
          <p:cNvPr id="2" name="Google Shape;90;p1">
            <a:extLst>
              <a:ext uri="{FF2B5EF4-FFF2-40B4-BE49-F238E27FC236}">
                <a16:creationId xmlns:a16="http://schemas.microsoft.com/office/drawing/2014/main" id="{BCA1D78E-6338-6F10-56A6-4697B1B597F8}"/>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94351815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F76BF6D6-D48D-7DA5-286B-5AA477C5B81E}"/>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76AE03A5-5ABB-B050-D5A0-1B2464881A03}"/>
              </a:ext>
            </a:extLst>
          </p:cNvPr>
          <p:cNvSpPr txBox="1">
            <a:spLocks noGrp="1"/>
          </p:cNvSpPr>
          <p:nvPr>
            <p:ph type="title"/>
          </p:nvPr>
        </p:nvSpPr>
        <p:spPr>
          <a:xfrm>
            <a:off x="966691" y="297159"/>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References</a:t>
            </a:r>
            <a:endParaRPr sz="4000" dirty="0"/>
          </a:p>
        </p:txBody>
      </p:sp>
      <p:sp>
        <p:nvSpPr>
          <p:cNvPr id="101" name="Google Shape;101;p2">
            <a:extLst>
              <a:ext uri="{FF2B5EF4-FFF2-40B4-BE49-F238E27FC236}">
                <a16:creationId xmlns:a16="http://schemas.microsoft.com/office/drawing/2014/main" id="{0052FC0E-C4D5-31E7-7CD3-9FEA22D9E449}"/>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16</a:t>
            </a:fld>
            <a:endParaRPr/>
          </a:p>
        </p:txBody>
      </p:sp>
      <p:sp>
        <p:nvSpPr>
          <p:cNvPr id="5" name="Rectangle 3">
            <a:extLst>
              <a:ext uri="{FF2B5EF4-FFF2-40B4-BE49-F238E27FC236}">
                <a16:creationId xmlns:a16="http://schemas.microsoft.com/office/drawing/2014/main" id="{AE5D1E56-CD2C-9E9F-EEC7-375BF04DA75E}"/>
              </a:ext>
            </a:extLst>
          </p:cNvPr>
          <p:cNvSpPr>
            <a:spLocks noGrp="1" noChangeArrowheads="1"/>
          </p:cNvSpPr>
          <p:nvPr>
            <p:ph type="body" idx="1"/>
          </p:nvPr>
        </p:nvSpPr>
        <p:spPr bwMode="auto">
          <a:xfrm>
            <a:off x="457200" y="1196627"/>
            <a:ext cx="8348471" cy="56169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400" dirty="0"/>
              <a:t>Popov, A., 2018. </a:t>
            </a:r>
            <a:r>
              <a:rPr lang="en-US" sz="1400" i="1" dirty="0" err="1"/>
              <a:t>Nystroem</a:t>
            </a:r>
            <a:r>
              <a:rPr lang="en-US" sz="1400" i="1" dirty="0"/>
              <a:t>, M., Balfanz, D., and J. Hodges," The Token Binding Protocol Version 1.0</a:t>
            </a:r>
            <a:r>
              <a:rPr lang="en-US" sz="1400" dirty="0"/>
              <a:t>. RFC 8471, DOI 10.17487/RFC8471, October 2018,&lt; https://www. </a:t>
            </a:r>
            <a:r>
              <a:rPr lang="en-US" sz="1400" dirty="0" err="1"/>
              <a:t>rfc</a:t>
            </a:r>
            <a:r>
              <a:rPr lang="en-US" sz="1400" dirty="0"/>
              <a:t>-editor. org/info/rfc8471.</a:t>
            </a:r>
          </a:p>
          <a:p>
            <a:pPr>
              <a:lnSpc>
                <a:spcPct val="150000"/>
              </a:lnSpc>
            </a:pPr>
            <a:r>
              <a:rPr lang="en-US" sz="1400" dirty="0"/>
              <a:t>Amira, A., </a:t>
            </a:r>
            <a:r>
              <a:rPr lang="en-US" sz="1400" dirty="0" err="1"/>
              <a:t>Ouadjaout</a:t>
            </a:r>
            <a:r>
              <a:rPr lang="en-US" sz="1400" dirty="0"/>
              <a:t>, A., </a:t>
            </a:r>
            <a:r>
              <a:rPr lang="en-US" sz="1400" dirty="0" err="1"/>
              <a:t>Derhab</a:t>
            </a:r>
            <a:r>
              <a:rPr lang="en-US" sz="1400" dirty="0"/>
              <a:t>, A. and Badache, N., 2017, March. Sound and static analysis of session fixation vulnerabilities in </a:t>
            </a:r>
            <a:r>
              <a:rPr lang="en-US" sz="1400" dirty="0" err="1"/>
              <a:t>php</a:t>
            </a:r>
            <a:r>
              <a:rPr lang="en-US" sz="1400" dirty="0"/>
              <a:t> web applications. In </a:t>
            </a:r>
            <a:r>
              <a:rPr lang="en-US" sz="1400" i="1" dirty="0"/>
              <a:t>Proceedings of the Seventh ACM on Conference on Data and Application Security and Privacy</a:t>
            </a:r>
            <a:r>
              <a:rPr lang="en-US" sz="1400" dirty="0"/>
              <a:t> (pp. 139-141).</a:t>
            </a:r>
          </a:p>
          <a:p>
            <a:pPr>
              <a:lnSpc>
                <a:spcPct val="150000"/>
              </a:lnSpc>
            </a:pPr>
            <a:r>
              <a:rPr lang="en-US" sz="1400" dirty="0"/>
              <a:t>Dacosta, I., </a:t>
            </a:r>
            <a:r>
              <a:rPr lang="en-US" sz="1400" dirty="0" err="1"/>
              <a:t>Chakradeo</a:t>
            </a:r>
            <a:r>
              <a:rPr lang="en-US" sz="1400" dirty="0"/>
              <a:t>, S., Ahamad, M. and Traynor, P., 2012. One-time cookies: Preventing session hijacking attacks with stateless authentication tokens. </a:t>
            </a:r>
            <a:r>
              <a:rPr lang="en-US" sz="1400" i="1" dirty="0"/>
              <a:t>ACM Transactions on Internet Technology (TOIT)</a:t>
            </a:r>
            <a:r>
              <a:rPr lang="en-US" sz="1400" dirty="0"/>
              <a:t>, </a:t>
            </a:r>
            <a:r>
              <a:rPr lang="en-US" sz="1400" i="1" dirty="0"/>
              <a:t>12</a:t>
            </a:r>
            <a:r>
              <a:rPr lang="en-US" sz="1400" dirty="0"/>
              <a:t>(1), pp.1-24.</a:t>
            </a:r>
          </a:p>
          <a:p>
            <a:pPr>
              <a:lnSpc>
                <a:spcPct val="150000"/>
              </a:lnSpc>
            </a:pPr>
            <a:r>
              <a:rPr lang="en-US" sz="1400" dirty="0"/>
              <a:t>Baig AF, Eskeland S. Security, Privacy, and Usability in Continuous Authentication: A Survey. Sensors (Basel). 2021 Sep 6;21(17):5967. </a:t>
            </a:r>
            <a:r>
              <a:rPr lang="en-US" sz="1400" dirty="0" err="1"/>
              <a:t>doi</a:t>
            </a:r>
            <a:r>
              <a:rPr lang="en-US" sz="1400" dirty="0"/>
              <a:t>: 10.3390/s21175967. PMID: 34502865; PMCID: PMC8434648.</a:t>
            </a:r>
          </a:p>
          <a:p>
            <a:pPr>
              <a:lnSpc>
                <a:spcPct val="150000"/>
              </a:lnSpc>
            </a:pPr>
            <a:r>
              <a:rPr lang="en-US" sz="1400" dirty="0"/>
              <a:t>Abu Bakar, Khairul Azmi &amp; Haron, </a:t>
            </a:r>
            <a:r>
              <a:rPr lang="en-US" sz="1400" dirty="0" err="1"/>
              <a:t>Galoh</a:t>
            </a:r>
            <a:r>
              <a:rPr lang="en-US" sz="1400" dirty="0"/>
              <a:t>. (2014). Adaptive authentication based on analysis of user behavior. Proceedings of 2014 Science and Information Conference, SAI 2014. 601-606. 10.1109/SAI.2014.6918248. </a:t>
            </a:r>
          </a:p>
          <a:p>
            <a:pPr>
              <a:lnSpc>
                <a:spcPct val="150000"/>
              </a:lnSpc>
            </a:pPr>
            <a:r>
              <a:rPr lang="en-US" sz="1400" dirty="0"/>
              <a:t>Picard, Claudy &amp; Pierre, Samuel. (2023). </a:t>
            </a:r>
            <a:r>
              <a:rPr lang="en-US" sz="1400" dirty="0" err="1"/>
              <a:t>RLAuth</a:t>
            </a:r>
            <a:r>
              <a:rPr lang="en-US" sz="1400" dirty="0"/>
              <a:t>: A Risk-Based Authentication System Using Reinforcement Learning. IEEE Access. PP. 1-1. 10.1109/ACCESS.2023.3286376.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2" name="Google Shape;90;p1">
            <a:extLst>
              <a:ext uri="{FF2B5EF4-FFF2-40B4-BE49-F238E27FC236}">
                <a16:creationId xmlns:a16="http://schemas.microsoft.com/office/drawing/2014/main" id="{27FE70C2-69EE-5921-C033-B36FE5E0475D}"/>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7916135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a:extLst>
            <a:ext uri="{FF2B5EF4-FFF2-40B4-BE49-F238E27FC236}">
              <a16:creationId xmlns:a16="http://schemas.microsoft.com/office/drawing/2014/main" id="{33B048C9-9563-821A-7ABE-F87333896362}"/>
            </a:ext>
          </a:extLst>
        </p:cNvPr>
        <p:cNvGrpSpPr/>
        <p:nvPr/>
      </p:nvGrpSpPr>
      <p:grpSpPr>
        <a:xfrm>
          <a:off x="0" y="0"/>
          <a:ext cx="0" cy="0"/>
          <a:chOff x="0" y="0"/>
          <a:chExt cx="0" cy="0"/>
        </a:xfrm>
      </p:grpSpPr>
      <p:sp>
        <p:nvSpPr>
          <p:cNvPr id="96" name="Google Shape;96;p2">
            <a:extLst>
              <a:ext uri="{FF2B5EF4-FFF2-40B4-BE49-F238E27FC236}">
                <a16:creationId xmlns:a16="http://schemas.microsoft.com/office/drawing/2014/main" id="{9E0C7152-5976-F6BC-F7D8-967283D51F40}"/>
              </a:ext>
            </a:extLst>
          </p:cNvPr>
          <p:cNvSpPr txBox="1">
            <a:spLocks noGrp="1"/>
          </p:cNvSpPr>
          <p:nvPr>
            <p:ph type="title"/>
          </p:nvPr>
        </p:nvSpPr>
        <p:spPr>
          <a:xfrm>
            <a:off x="1002505" y="396558"/>
            <a:ext cx="7329487" cy="807394"/>
          </a:xfrm>
          <a:prstGeom prst="rect">
            <a:avLst/>
          </a:prstGeom>
          <a:noFill/>
          <a:ln>
            <a:noFill/>
          </a:ln>
        </p:spPr>
        <p:txBody>
          <a:bodyPr spcFirstLastPara="1" wrap="square" lIns="91425" tIns="45700" rIns="91425" bIns="45700" anchor="ctr" anchorCtr="0">
            <a:normAutofit/>
          </a:bodyPr>
          <a:lstStyle/>
          <a:p>
            <a:pPr>
              <a:buSzPts val="4400"/>
            </a:pPr>
            <a:r>
              <a:rPr lang="en-IN" sz="4000" dirty="0"/>
              <a:t>References</a:t>
            </a:r>
            <a:endParaRPr sz="4000" dirty="0"/>
          </a:p>
        </p:txBody>
      </p:sp>
      <p:sp>
        <p:nvSpPr>
          <p:cNvPr id="101" name="Google Shape;101;p2">
            <a:extLst>
              <a:ext uri="{FF2B5EF4-FFF2-40B4-BE49-F238E27FC236}">
                <a16:creationId xmlns:a16="http://schemas.microsoft.com/office/drawing/2014/main" id="{747B6CAC-43F0-63FA-9586-FC694C63FE34}"/>
              </a:ext>
            </a:extLst>
          </p:cNvPr>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17</a:t>
            </a:fld>
            <a:endParaRPr/>
          </a:p>
        </p:txBody>
      </p:sp>
      <p:sp>
        <p:nvSpPr>
          <p:cNvPr id="5" name="Rectangle 3">
            <a:extLst>
              <a:ext uri="{FF2B5EF4-FFF2-40B4-BE49-F238E27FC236}">
                <a16:creationId xmlns:a16="http://schemas.microsoft.com/office/drawing/2014/main" id="{DD4DEFEF-C31D-68FF-0E85-E20653F22AD8}"/>
              </a:ext>
            </a:extLst>
          </p:cNvPr>
          <p:cNvSpPr>
            <a:spLocks noGrp="1" noChangeArrowheads="1"/>
          </p:cNvSpPr>
          <p:nvPr>
            <p:ph type="body" idx="1"/>
          </p:nvPr>
        </p:nvSpPr>
        <p:spPr bwMode="auto">
          <a:xfrm>
            <a:off x="552450" y="1370947"/>
            <a:ext cx="8039099" cy="35291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1400" dirty="0"/>
              <a:t>Wang X, Shi Y, Zheng K, Zhang Y, Hong W, Cao S. User Authentication Method Based on Keystroke Dynamics and Mouse Dynamics with Scene-Irrelated Features in Hybrid Scenes. Sensors (Basel). 2022 Sep 1;22(17):6627. </a:t>
            </a:r>
            <a:r>
              <a:rPr lang="en-US" sz="1400" dirty="0" err="1"/>
              <a:t>doi</a:t>
            </a:r>
            <a:r>
              <a:rPr lang="en-US" sz="1400" dirty="0"/>
              <a:t>: 10.3390/s22176627. PMID: 36081085; PMCID: PMC9460698.</a:t>
            </a:r>
          </a:p>
          <a:p>
            <a:pPr>
              <a:lnSpc>
                <a:spcPct val="150000"/>
              </a:lnSpc>
            </a:pPr>
            <a:r>
              <a:rPr lang="en-US" sz="1400" dirty="0"/>
              <a:t>Mondal, Soumik &amp; Bours, Patrick. (2016). A study on Continuous Authentication using a combination of Keystroke and Mouse Biometrics. Neurocomputing. 230. 10.1016/j.neucom.2016.11.031. </a:t>
            </a:r>
          </a:p>
          <a:p>
            <a:pPr>
              <a:lnSpc>
                <a:spcPct val="150000"/>
              </a:lnSpc>
            </a:pPr>
            <a:r>
              <a:rPr lang="en-US" sz="1400" dirty="0"/>
              <a:t>Baitha, A.K. and Vinod, S., 2018. Session hijacking and prevention technique. </a:t>
            </a:r>
            <a:r>
              <a:rPr lang="en-US" sz="1400" i="1" dirty="0"/>
              <a:t>Int. J. Eng. Technol</a:t>
            </a:r>
            <a:r>
              <a:rPr lang="en-US" sz="1400" dirty="0"/>
              <a:t>, </a:t>
            </a:r>
            <a:r>
              <a:rPr lang="en-US" sz="1400" i="1" dirty="0"/>
              <a:t>7</a:t>
            </a:r>
            <a:r>
              <a:rPr lang="en-US" sz="1400" dirty="0"/>
              <a:t>(2.6), pp.193-198.</a:t>
            </a:r>
          </a:p>
          <a:p>
            <a:pPr>
              <a:lnSpc>
                <a:spcPct val="150000"/>
              </a:lnSpc>
            </a:pPr>
            <a:r>
              <a:rPr lang="it-IT" sz="1400" dirty="0"/>
              <a:t>Dalimunthe, Syabdan &amp; Putra, Emansa &amp; Ridha, Muhammad. </a:t>
            </a:r>
            <a:r>
              <a:rPr lang="en-US" sz="1400" dirty="0"/>
              <a:t>(2023). Restful API Security Using JSON Web Token (JWT) With HMAC-Sha512 Algorithm in Session Management. IT Journal Research and Development. 8. 81-94. 10.25299/itjrd.2023.12029. </a:t>
            </a:r>
            <a:endParaRPr lang="en-US" sz="2800" dirty="0"/>
          </a:p>
        </p:txBody>
      </p:sp>
      <p:pic>
        <p:nvPicPr>
          <p:cNvPr id="2" name="Google Shape;90;p1">
            <a:extLst>
              <a:ext uri="{FF2B5EF4-FFF2-40B4-BE49-F238E27FC236}">
                <a16:creationId xmlns:a16="http://schemas.microsoft.com/office/drawing/2014/main" id="{A95708F8-5C00-BF9E-E430-C815B714143F}"/>
              </a:ext>
            </a:extLst>
          </p:cNvPr>
          <p:cNvPicPr preferRelativeResize="0"/>
          <p:nvPr/>
        </p:nvPicPr>
        <p:blipFill rotWithShape="1">
          <a:blip r:embed="rId3">
            <a:alphaModFix/>
          </a:blip>
          <a:srcRect/>
          <a:stretch/>
        </p:blipFill>
        <p:spPr>
          <a:xfrm>
            <a:off x="240957" y="381155"/>
            <a:ext cx="1735931" cy="604400"/>
          </a:xfrm>
          <a:prstGeom prst="rect">
            <a:avLst/>
          </a:prstGeom>
          <a:noFill/>
          <a:ln>
            <a:noFill/>
          </a:ln>
        </p:spPr>
      </p:pic>
    </p:spTree>
    <p:extLst>
      <p:ext uri="{BB962C8B-B14F-4D97-AF65-F5344CB8AC3E}">
        <p14:creationId xmlns:p14="http://schemas.microsoft.com/office/powerpoint/2010/main" val="3036132032"/>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190</TotalTime>
  <Words>1691</Words>
  <Application>Microsoft Office PowerPoint</Application>
  <PresentationFormat>On-screen Show (4:3)</PresentationFormat>
  <Paragraphs>212</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Session Integrity Firewall (SIF)</vt:lpstr>
      <vt:lpstr>  Introduction </vt:lpstr>
      <vt:lpstr>      Literature Survey</vt:lpstr>
      <vt:lpstr>    Literature Survey</vt:lpstr>
      <vt:lpstr>      Literature Survey</vt:lpstr>
      <vt:lpstr>Research Gaps</vt:lpstr>
      <vt:lpstr>      Problem Statement </vt:lpstr>
      <vt:lpstr>      Scope of the project </vt:lpstr>
      <vt:lpstr>Importance of the project</vt:lpstr>
      <vt:lpstr>Innovation Idea</vt:lpstr>
      <vt:lpstr>Techniques and Features</vt:lpstr>
      <vt:lpstr>Architecture/ Block Diagram</vt:lpstr>
      <vt:lpstr>SDG Mapping</vt:lpstr>
      <vt:lpstr>Release plan / Timeline</vt:lpstr>
      <vt:lpstr>Abstract</vt:lpstr>
      <vt:lpstr>References</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&lt;Title of Project&gt;</dc:title>
  <dc:creator>Kevin</dc:creator>
  <cp:lastModifiedBy>Smita Joshi</cp:lastModifiedBy>
  <cp:revision>29</cp:revision>
  <dcterms:created xsi:type="dcterms:W3CDTF">2020-05-13T07:00:09Z</dcterms:created>
  <dcterms:modified xsi:type="dcterms:W3CDTF">2026-02-28T04:04:29Z</dcterms:modified>
</cp:coreProperties>
</file>